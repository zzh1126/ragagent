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4127437f514b79" /><Relationship Type="http://schemas.openxmlformats.org/officeDocument/2006/relationships/extended-properties" Target="/docProps/app.xml" Id="Ra6b520e31f594872" /><Relationship Type="http://schemas.openxmlformats.org/officeDocument/2006/relationships/officeDocument" Target="/ppt/presentation.xml" Id="R9798f8f0a70d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c8e851fa6d4e38"/>
  </p:sldMasterIdLst>
  <p:notesMasterIdLst>
    <p:notesMasterId xmlns:r="http://schemas.openxmlformats.org/officeDocument/2006/relationships" r:id="Rae3f6e8c35644c98"/>
  </p:notesMasterIdLst>
  <p:sldIdLst>
    <p:sldId xmlns:r="http://schemas.openxmlformats.org/officeDocument/2006/relationships" id="256" r:id="Rebb1c521b9d74f83"/>
    <p:sldId xmlns:r="http://schemas.openxmlformats.org/officeDocument/2006/relationships" id="257" r:id="R60f4bc9624ff4e37"/>
    <p:sldId xmlns:r="http://schemas.openxmlformats.org/officeDocument/2006/relationships" id="258" r:id="R7a26fdefeafb4393"/>
    <p:sldId xmlns:r="http://schemas.openxmlformats.org/officeDocument/2006/relationships" id="259" r:id="R3ac0984eb9a34f33"/>
    <p:sldId xmlns:r="http://schemas.openxmlformats.org/officeDocument/2006/relationships" id="260" r:id="R589b931923894da8"/>
    <p:sldId xmlns:r="http://schemas.openxmlformats.org/officeDocument/2006/relationships" id="261" r:id="R217ab147a5574b38"/>
    <p:sldId xmlns:r="http://schemas.openxmlformats.org/officeDocument/2006/relationships" id="262" r:id="Rfbe44329c9434b46"/>
    <p:sldId xmlns:r="http://schemas.openxmlformats.org/officeDocument/2006/relationships" id="263" r:id="R0e7f899531814d40"/>
    <p:sldId xmlns:r="http://schemas.openxmlformats.org/officeDocument/2006/relationships" id="264" r:id="R48e92c8cd8684495"/>
    <p:sldId xmlns:r="http://schemas.openxmlformats.org/officeDocument/2006/relationships" id="265" r:id="Rfffa4300f37b47f9"/>
    <p:sldId xmlns:r="http://schemas.openxmlformats.org/officeDocument/2006/relationships" id="266" r:id="R9484dcce46094aee"/>
    <p:sldId xmlns:r="http://schemas.openxmlformats.org/officeDocument/2006/relationships" id="267" r:id="Rb7ab6f84f85341c1"/>
    <p:sldId xmlns:r="http://schemas.openxmlformats.org/officeDocument/2006/relationships" id="268" r:id="Rba0e582b40284ce9"/>
    <p:sldId xmlns:r="http://schemas.openxmlformats.org/officeDocument/2006/relationships" id="269" r:id="Rc5e8fe8122404b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8e851fa6d4e38" /><Relationship Type="http://schemas.openxmlformats.org/officeDocument/2006/relationships/theme" Target="/ppt/theme/theme1.xml" Id="Rc0d16a15e0e24f99" /><Relationship Type="http://schemas.openxmlformats.org/officeDocument/2006/relationships/notesMaster" Target="/ppt/notesMasters/notesMaster1.xml" Id="Rae3f6e8c35644c98" /><Relationship Type="http://schemas.openxmlformats.org/officeDocument/2006/relationships/presProps" Target="/ppt/presProps.xml" Id="R46b2d42e6e624d88" /><Relationship Type="http://schemas.openxmlformats.org/officeDocument/2006/relationships/viewProps" Target="/ppt/viewProps.xml" Id="R5972578ec86f4b7c" /><Relationship Type="http://schemas.openxmlformats.org/officeDocument/2006/relationships/tableStyles" Target="/ppt/tableStyles.xml" Id="R32d258b39ac349c5" /><Relationship Type="http://schemas.openxmlformats.org/officeDocument/2006/relationships/slide" Target="/ppt/slides/slide1.xml" Id="Rebb1c521b9d74f83" /><Relationship Type="http://schemas.openxmlformats.org/officeDocument/2006/relationships/slide" Target="/ppt/slides/slide2.xml" Id="R60f4bc9624ff4e37" /><Relationship Type="http://schemas.openxmlformats.org/officeDocument/2006/relationships/slide" Target="/ppt/slides/slide3.xml" Id="R7a26fdefeafb4393" /><Relationship Type="http://schemas.openxmlformats.org/officeDocument/2006/relationships/slide" Target="/ppt/slides/slide4.xml" Id="R3ac0984eb9a34f33" /><Relationship Type="http://schemas.openxmlformats.org/officeDocument/2006/relationships/slide" Target="/ppt/slides/slide5.xml" Id="R589b931923894da8" /><Relationship Type="http://schemas.openxmlformats.org/officeDocument/2006/relationships/slide" Target="/ppt/slides/slide6.xml" Id="R217ab147a5574b38" /><Relationship Type="http://schemas.openxmlformats.org/officeDocument/2006/relationships/slide" Target="/ppt/slides/slide7.xml" Id="Rfbe44329c9434b46" /><Relationship Type="http://schemas.openxmlformats.org/officeDocument/2006/relationships/slide" Target="/ppt/slides/slide8.xml" Id="R0e7f899531814d40" /><Relationship Type="http://schemas.openxmlformats.org/officeDocument/2006/relationships/slide" Target="/ppt/slides/slide9.xml" Id="R48e92c8cd8684495" /><Relationship Type="http://schemas.openxmlformats.org/officeDocument/2006/relationships/slide" Target="/ppt/slides/slide10.xml" Id="Rfffa4300f37b47f9" /><Relationship Type="http://schemas.openxmlformats.org/officeDocument/2006/relationships/slide" Target="/ppt/slides/slide11.xml" Id="R9484dcce46094aee" /><Relationship Type="http://schemas.openxmlformats.org/officeDocument/2006/relationships/slide" Target="/ppt/slides/slide12.xml" Id="Rb7ab6f84f85341c1" /><Relationship Type="http://schemas.openxmlformats.org/officeDocument/2006/relationships/slide" Target="/ppt/slides/slide13.xml" Id="Rba0e582b40284ce9" /><Relationship Type="http://schemas.openxmlformats.org/officeDocument/2006/relationships/slide" Target="/ppt/slides/slide14.xml" Id="Rc5e8fe8122404b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78c6ee579784c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e21b5f8b2f4e8a" /><Relationship Type="http://schemas.openxmlformats.org/officeDocument/2006/relationships/notesMaster" Target="/ppt/notesMasters/notesMaster1.xml" Id="Refbd2bbff53c47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1a72e0aee04019" /><Relationship Type="http://schemas.openxmlformats.org/officeDocument/2006/relationships/notesMaster" Target="/ppt/notesMasters/notesMaster1.xml" Id="R278da31549bf49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9d6c2897a54cee" /><Relationship Type="http://schemas.openxmlformats.org/officeDocument/2006/relationships/notesMaster" Target="/ppt/notesMasters/notesMaster1.xml" Id="Rfb0c8034c59049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86db5b544a4fc9" /><Relationship Type="http://schemas.openxmlformats.org/officeDocument/2006/relationships/notesMaster" Target="/ppt/notesMasters/notesMaster1.xml" Id="Rf9a1c8bd845142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736c50fcf040db" /><Relationship Type="http://schemas.openxmlformats.org/officeDocument/2006/relationships/notesMaster" Target="/ppt/notesMasters/notesMaster1.xml" Id="Recdf240ea7b64e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f0681274b04cd8" /><Relationship Type="http://schemas.openxmlformats.org/officeDocument/2006/relationships/notesMaster" Target="/ppt/notesMasters/notesMaster1.xml" Id="Ra561fa8d1b4e4a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5c74bef7754660" /><Relationship Type="http://schemas.openxmlformats.org/officeDocument/2006/relationships/notesMaster" Target="/ppt/notesMasters/notesMaster1.xml" Id="R3dbe5b59962240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e60cd824974b90" /><Relationship Type="http://schemas.openxmlformats.org/officeDocument/2006/relationships/notesMaster" Target="/ppt/notesMasters/notesMaster1.xml" Id="R78bc29f7e6a243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89771ac6284236" /><Relationship Type="http://schemas.openxmlformats.org/officeDocument/2006/relationships/notesMaster" Target="/ppt/notesMasters/notesMaster1.xml" Id="R27f6f81a87de49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97ccc7d52b4017" /><Relationship Type="http://schemas.openxmlformats.org/officeDocument/2006/relationships/notesMaster" Target="/ppt/notesMasters/notesMaster1.xml" Id="R9c27c6bb39734e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7ec196b3cc49f6" /><Relationship Type="http://schemas.openxmlformats.org/officeDocument/2006/relationships/notesMaster" Target="/ppt/notesMasters/notesMaster1.xml" Id="R4dab88d28d1542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0aaeeac1f44119" /><Relationship Type="http://schemas.openxmlformats.org/officeDocument/2006/relationships/notesMaster" Target="/ppt/notesMasters/notesMaster1.xml" Id="Ra50e32aa750b41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57fe6d5ff84b7a" /><Relationship Type="http://schemas.openxmlformats.org/officeDocument/2006/relationships/notesMaster" Target="/ppt/notesMasters/notesMaster1.xml" Id="Rbcb2e52909cb47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27bc0832a249da" /><Relationship Type="http://schemas.openxmlformats.org/officeDocument/2006/relationships/notesMaster" Target="/ppt/notesMasters/notesMaster1.xml" Id="Rcb8bde67c13e48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cccb742ec40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27ff83729ee4435" /><Relationship Type="http://schemas.openxmlformats.org/officeDocument/2006/relationships/slideLayout" Target="/ppt/slideLayouts/slideLayout2.xml" Id="R365a87fd416a4b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5a87fd416a4b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4519a7ad9e46ab" /><Relationship Type="http://schemas.openxmlformats.org/officeDocument/2006/relationships/notesSlide" Target="/ppt/notesSlides/notesSlide1.xml" Id="Rf9fb0734402741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eb82ef3ab24139" /><Relationship Type="http://schemas.openxmlformats.org/officeDocument/2006/relationships/notesSlide" Target="/ppt/notesSlides/notesSlide2.xml" Id="R4669a3ccff104b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fc754b2299481f" /><Relationship Type="http://schemas.openxmlformats.org/officeDocument/2006/relationships/notesSlide" Target="/ppt/notesSlides/notesSlide3.xml" Id="R2a260b87eb3e4a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95e52387094d55" /><Relationship Type="http://schemas.openxmlformats.org/officeDocument/2006/relationships/notesSlide" Target="/ppt/notesSlides/notesSlide4.xml" Id="R24f1ed68e13544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28fe3cc7814dc8" /><Relationship Type="http://schemas.openxmlformats.org/officeDocument/2006/relationships/notesSlide" Target="/ppt/notesSlides/notesSlide5.xml" Id="Re1ff90c0d65b4c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6ef25d76864a39" /><Relationship Type="http://schemas.openxmlformats.org/officeDocument/2006/relationships/image" Target="/ppt/media/image.png" Id="R19d93df378fb4707" /><Relationship Type="http://schemas.openxmlformats.org/officeDocument/2006/relationships/notesSlide" Target="/ppt/notesSlides/notesSlide6.xml" Id="Rfc1d058c185949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ccf5ec8be4a77" /><Relationship Type="http://schemas.openxmlformats.org/officeDocument/2006/relationships/notesSlide" Target="/ppt/notesSlides/notesSlide7.xml" Id="Rb32c9fccdf1a47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afd9305f7546b1" /><Relationship Type="http://schemas.openxmlformats.org/officeDocument/2006/relationships/notesSlide" Target="/ppt/notesSlides/notesSlide8.xml" Id="R9f1b9faa6d8a47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b672b4d2034aed" /><Relationship Type="http://schemas.openxmlformats.org/officeDocument/2006/relationships/notesSlide" Target="/ppt/notesSlides/notesSlide9.xml" Id="R844723262f2544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b5c4b794ab4073" /><Relationship Type="http://schemas.openxmlformats.org/officeDocument/2006/relationships/notesSlide" Target="/ppt/notesSlides/notesSlide10.xml" Id="R8632c4ff2e414c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f652123d9a45a9" /><Relationship Type="http://schemas.openxmlformats.org/officeDocument/2006/relationships/notesSlide" Target="/ppt/notesSlides/notesSlide11.xml" Id="R31c838ca831d4c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78d7a761974b5e" /><Relationship Type="http://schemas.openxmlformats.org/officeDocument/2006/relationships/notesSlide" Target="/ppt/notesSlides/notesSlide12.xml" Id="R7a455b3440354d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884731b77a42a4" /><Relationship Type="http://schemas.openxmlformats.org/officeDocument/2006/relationships/notesSlide" Target="/ppt/notesSlides/notesSlide13.xml" Id="R971c5466bf554d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334746e24f4c91" /><Relationship Type="http://schemas.openxmlformats.org/officeDocument/2006/relationships/notesSlide" Target="/ppt/notesSlides/notesSlide14.xml" Id="R86d51693028f4a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06C1D58-00FA-4892-A016-F328F3E8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86B2514D-D3FD-41CB-8EE5-1418C5B4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FE1BE82E-F154-4FF2-BE99-BC2A3A5D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1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1EE"/>
                </a:solidFill>
                <a:latin typeface="Aptos"/>
                <a:ea typeface="Aptos"/>
                <a:cs typeface="Aptos"/>
              </a:rPr>
              <a:t>SCIKIT-LEARN KNOWLEDGE QA AGENT</a:t>
            </a:r>
          </a:p>
        </p:txBody>
      </p:sp>
      <p:sp>
        <p:nvSpPr>
          <p:cNvPr id="4" name="cover-claim">
            <a:extLst xmlns:a="http://schemas.openxmlformats.org/drawingml/2006/main">
              <a:ext uri="{FF2B5EF4-FFF2-40B4-BE49-F238E27FC236}">
                <a16:creationId xmlns:a16="http://schemas.microsoft.com/office/drawing/2014/main" id="{A2480B56-3173-4BEA-A9E3-D176462D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572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证据边界，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比回答更重要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E63D858-5668-43F6-BB1D-88296E1D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6230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1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8E1EE"/>
                </a:solidFill>
                <a:latin typeface="Microsoft YaHei"/>
                <a:ea typeface="Microsoft YaHei"/>
                <a:cs typeface="Microsoft YaHei"/>
              </a:rPr>
              <a:t>基于预定义知识图谱的轻量化混合 GraphRAG</a:t>
            </a:r>
          </a:p>
          <a:p xmlns:a="http://schemas.openxmlformats.org/drawingml/2006/main">
            <a:pPr algn="l">
              <a:defRPr sz="1575" b="0">
                <a:solidFill>
                  <a:srgbClr val="D8E1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8E1EE"/>
                </a:solidFill>
                <a:latin typeface="Microsoft YaHei"/>
                <a:ea typeface="Microsoft YaHei"/>
                <a:cs typeface="Microsoft YaHei"/>
              </a:rPr>
              <a:t>机器学习知识问答 Agent</a:t>
            </a:r>
          </a:p>
        </p:txBody>
      </p:sp>
      <p:sp>
        <p:nvSpPr>
          <p:cNvPr id="6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8AE4219F-DE9E-497F-85E7-0D59FC2F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A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metric-官方文档页-value">
            <a:extLst xmlns:a="http://schemas.openxmlformats.org/drawingml/2006/main">
              <a:ext uri="{FF2B5EF4-FFF2-40B4-BE49-F238E27FC236}">
                <a16:creationId xmlns:a16="http://schemas.microsoft.com/office/drawing/2014/main" id="{DB2EFF13-DF22-4F4D-9698-0604167B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3A72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3A72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metric-官方文档页-label">
            <a:extLst xmlns:a="http://schemas.openxmlformats.org/drawingml/2006/main">
              <a:ext uri="{FF2B5EF4-FFF2-40B4-BE49-F238E27FC236}">
                <a16:creationId xmlns:a16="http://schemas.microsoft.com/office/drawing/2014/main" id="{BD884BEA-DA22-4002-875E-0A806A0C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官方文档页</a:t>
            </a:r>
          </a:p>
        </p:txBody>
      </p:sp>
      <p:sp>
        <p:nvSpPr>
          <p:cNvPr id="9" name="metric-官方文档页-context">
            <a:extLst xmlns:a="http://schemas.openxmlformats.org/drawingml/2006/main">
              <a:ext uri="{FF2B5EF4-FFF2-40B4-BE49-F238E27FC236}">
                <a16:creationId xmlns:a16="http://schemas.microsoft.com/office/drawing/2014/main" id="{9186E377-9994-42BF-B7AB-4BD05C00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rPr>
              <a:t>固定知识边界</a:t>
            </a:r>
          </a:p>
        </p:txBody>
      </p:sp>
      <p:sp>
        <p:nvSpPr>
          <p:cNvPr id="10" name="metric-Extension-value">
            <a:extLst xmlns:a="http://schemas.openxmlformats.org/drawingml/2006/main">
              <a:ext uri="{FF2B5EF4-FFF2-40B4-BE49-F238E27FC236}">
                <a16:creationId xmlns:a16="http://schemas.microsoft.com/office/drawing/2014/main" id="{CF58F9A0-3E58-47F3-815C-E9874CA3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148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23 × 4</a:t>
            </a:r>
          </a:p>
        </p:txBody>
      </p:sp>
      <p:sp>
        <p:nvSpPr>
          <p:cNvPr id="11" name="metric-Extension-label">
            <a:extLst xmlns:a="http://schemas.openxmlformats.org/drawingml/2006/main">
              <a:ext uri="{FF2B5EF4-FFF2-40B4-BE49-F238E27FC236}">
                <a16:creationId xmlns:a16="http://schemas.microsoft.com/office/drawing/2014/main" id="{3CD0C2C4-D352-47C9-8D07-F9231543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4825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Extension</a:t>
            </a:r>
          </a:p>
        </p:txBody>
      </p:sp>
      <p:sp>
        <p:nvSpPr>
          <p:cNvPr id="12" name="metric-Extension-context">
            <a:extLst xmlns:a="http://schemas.openxmlformats.org/drawingml/2006/main">
              <a:ext uri="{FF2B5EF4-FFF2-40B4-BE49-F238E27FC236}">
                <a16:creationId xmlns:a16="http://schemas.microsoft.com/office/drawing/2014/main" id="{9E9B4416-11C1-4F98-AB26-2508A7F9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149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rPr>
              <a:t>一次性四方法实验</a:t>
            </a:r>
          </a:p>
        </p:txBody>
      </p:sp>
      <p:sp>
        <p:nvSpPr>
          <p:cNvPr id="13" name="metric-自动化测试-value">
            <a:extLst xmlns:a="http://schemas.openxmlformats.org/drawingml/2006/main">
              <a:ext uri="{FF2B5EF4-FFF2-40B4-BE49-F238E27FC236}">
                <a16:creationId xmlns:a16="http://schemas.microsoft.com/office/drawing/2014/main" id="{7AE1D695-B2D6-42CF-8C64-804125C7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143</a:t>
            </a:r>
          </a:p>
        </p:txBody>
      </p:sp>
      <p:sp>
        <p:nvSpPr>
          <p:cNvPr id="14" name="metric-自动化测试-label">
            <a:extLst xmlns:a="http://schemas.openxmlformats.org/drawingml/2006/main">
              <a:ext uri="{FF2B5EF4-FFF2-40B4-BE49-F238E27FC236}">
                <a16:creationId xmlns:a16="http://schemas.microsoft.com/office/drawing/2014/main" id="{36ACC5C8-AE0A-4DB5-8EDA-0C49820C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自动化测试</a:t>
            </a:r>
          </a:p>
        </p:txBody>
      </p:sp>
      <p:sp>
        <p:nvSpPr>
          <p:cNvPr id="15" name="metric-自动化测试-context">
            <a:extLst xmlns:a="http://schemas.openxmlformats.org/drawingml/2006/main">
              <a:ext uri="{FF2B5EF4-FFF2-40B4-BE49-F238E27FC236}">
                <a16:creationId xmlns:a16="http://schemas.microsoft.com/office/drawing/2014/main" id="{B36B4035-BBAB-4B95-8152-56F4C2F5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149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rPr>
              <a:t>当前分支全量通过</a:t>
            </a:r>
          </a:p>
        </p:txBody>
      </p:sp>
      <p:sp>
        <p:nvSpPr>
          <p:cNvPr id="16" name="metric-不受支持 Claim 泄漏-value">
            <a:extLst xmlns:a="http://schemas.openxmlformats.org/drawingml/2006/main">
              <a:ext uri="{FF2B5EF4-FFF2-40B4-BE49-F238E27FC236}">
                <a16:creationId xmlns:a16="http://schemas.microsoft.com/office/drawing/2014/main" id="{819CA8E4-62A0-420E-9F3F-76208425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metric-不受支持 Claim 泄漏-label">
            <a:extLst xmlns:a="http://schemas.openxmlformats.org/drawingml/2006/main">
              <a:ext uri="{FF2B5EF4-FFF2-40B4-BE49-F238E27FC236}">
                <a16:creationId xmlns:a16="http://schemas.microsoft.com/office/drawing/2014/main" id="{5D15D1F0-DF78-4223-8D64-C330A385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4825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不受支持 Claim 泄漏</a:t>
            </a:r>
          </a:p>
        </p:txBody>
      </p:sp>
      <p:sp>
        <p:nvSpPr>
          <p:cNvPr id="18" name="metric-不受支持 Claim 泄漏-context">
            <a:extLst xmlns:a="http://schemas.openxmlformats.org/drawingml/2006/main">
              <a:ext uri="{FF2B5EF4-FFF2-40B4-BE49-F238E27FC236}">
                <a16:creationId xmlns:a16="http://schemas.microsoft.com/office/drawing/2014/main" id="{DAF39A02-2F45-4CB4-9A0B-C90CDA33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149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rPr>
              <a:t>Partial-pass extension</a:t>
            </a:r>
          </a:p>
        </p:txBody>
      </p:sp>
      <p:sp>
        <p:nvSpPr>
          <p:cNvPr id="19" name="footer-1-rule">
            <a:extLst xmlns:a="http://schemas.openxmlformats.org/drawingml/2006/main">
              <a:ext uri="{FF2B5EF4-FFF2-40B4-BE49-F238E27FC236}">
                <a16:creationId xmlns:a16="http://schemas.microsoft.com/office/drawing/2014/main" id="{6EF07D03-8EC9-42F3-B994-E86F29D9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A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ooter-1-source">
            <a:extLst xmlns:a="http://schemas.openxmlformats.org/drawingml/2006/main">
              <a:ext uri="{FF2B5EF4-FFF2-40B4-BE49-F238E27FC236}">
                <a16:creationId xmlns:a16="http://schemas.microsoft.com/office/drawing/2014/main" id="{CEDA411D-FFC7-4481-BD0D-464ED9FB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rPr>
              <a:t>科研实践答辩｜冻结结果与当前实现</a:t>
            </a:r>
          </a:p>
        </p:txBody>
      </p:sp>
      <p:sp>
        <p:nvSpPr>
          <p:cNvPr id="21" name="footer-1-page">
            <a:extLst xmlns:a="http://schemas.openxmlformats.org/drawingml/2006/main">
              <a:ext uri="{FF2B5EF4-FFF2-40B4-BE49-F238E27FC236}">
                <a16:creationId xmlns:a16="http://schemas.microsoft.com/office/drawing/2014/main" id="{89919C10-8BF8-48DF-9AD7-F9F18B05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EB9C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EB9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57001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84E51C3-DDCF-480B-A314-9CCB8E14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C04D20CD-08EC-4BCB-B34B-3776732D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9EAD52B9-C86A-45A6-8E76-B91876F2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RESEARCH PROBLEM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66F91FA-756A-4298-BEC8-0B05B1CF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小型知识库仍会同时遭遇漏答、误答与过度拒答</a:t>
            </a:r>
          </a:p>
        </p:txBody>
      </p:sp>
      <p:sp>
        <p:nvSpPr>
          <p:cNvPr id="5" name="problem-query-disc">
            <a:extLst xmlns:a="http://schemas.openxmlformats.org/drawingml/2006/main">
              <a:ext uri="{FF2B5EF4-FFF2-40B4-BE49-F238E27FC236}">
                <a16:creationId xmlns:a16="http://schemas.microsoft.com/office/drawing/2014/main" id="{E6F2B17A-CDB1-453D-8C51-ACB039EE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2571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152238"/>
            </a:solidFill>
            <a:prstDash val="solid"/>
          </a:ln>
        </p:spPr>
      </p:sp>
      <p:sp>
        <p:nvSpPr>
          <p:cNvPr id="6" name="problem-query">
            <a:extLst xmlns:a="http://schemas.openxmlformats.org/drawingml/2006/main">
              <a:ext uri="{FF2B5EF4-FFF2-40B4-BE49-F238E27FC236}">
                <a16:creationId xmlns:a16="http://schemas.microsoft.com/office/drawing/2014/main" id="{C535CEB7-2D8C-4BFD-AAD5-6C7575CA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0985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为什么随机森林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更稳定？</a:t>
            </a:r>
          </a:p>
        </p:txBody>
      </p:sp>
      <p:sp>
        <p:nvSpPr>
          <p:cNvPr id="7" name="left-branch">
            <a:extLst xmlns:a="http://schemas.openxmlformats.org/drawingml/2006/main">
              <a:ext uri="{FF2B5EF4-FFF2-40B4-BE49-F238E27FC236}">
                <a16:creationId xmlns:a16="http://schemas.microsoft.com/office/drawing/2014/main" id="{D3065629-2E68-4A63-AD70-0398CFCB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ight-branch">
            <a:extLst xmlns:a="http://schemas.openxmlformats.org/drawingml/2006/main">
              <a:ext uri="{FF2B5EF4-FFF2-40B4-BE49-F238E27FC236}">
                <a16:creationId xmlns:a16="http://schemas.microsoft.com/office/drawing/2014/main" id="{C58584C4-F074-4B09-9879-4ACBCAA5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76575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down-branch">
            <a:extLst xmlns:a="http://schemas.openxmlformats.org/drawingml/2006/main">
              <a:ext uri="{FF2B5EF4-FFF2-40B4-BE49-F238E27FC236}">
                <a16:creationId xmlns:a16="http://schemas.microsoft.com/office/drawing/2014/main" id="{F643577D-3445-4C9D-A0A8-B1B3DD70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000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0DF40-AF30-4610-B524-FA52EF11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BE0E4-79D4-49E6-87E7-209030CB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漏答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62DEA-40C1-4EB1-A267-7FCC4D22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路径或中间实体覆盖不完整，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答案只命中问题的一部分。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BFEBC-9803-407E-85FC-8000FA35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53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8273A-4E46-4977-ABEB-8798B722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误答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58267-44E9-456F-9AA0-C31DB1FA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引用存在，但专业结论并未被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直接证据支持。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0A2E6-47A6-459D-A27B-780B47BF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958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A7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3A72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1B347-969E-4E12-A00B-A19AEAA6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386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过度拒答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0F33C-5E82-452C-A4A3-EFA81D1E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530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部分 Claim 已有证据，却因另一条失败而整题拒绝。</a:t>
            </a:r>
          </a:p>
        </p:txBody>
      </p:sp>
      <p:sp>
        <p:nvSpPr>
          <p:cNvPr id="19" name="problem-bottom-rule">
            <a:extLst xmlns:a="http://schemas.openxmlformats.org/drawingml/2006/main">
              <a:ext uri="{FF2B5EF4-FFF2-40B4-BE49-F238E27FC236}">
                <a16:creationId xmlns:a16="http://schemas.microsoft.com/office/drawing/2014/main" id="{2AF5CC91-F269-4C98-835A-89D7FB81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8D528-B9F5-490F-9A20-87A6F30B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5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5FD0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4D12D-98BC-4425-8917-17752E74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674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不是强行回答，而是让每次 pass / partial / refuse 都有可追溯依据。</a:t>
            </a:r>
          </a:p>
        </p:txBody>
      </p:sp>
      <p:sp>
        <p:nvSpPr>
          <p:cNvPr id="22" name="footer-2-rule">
            <a:extLst xmlns:a="http://schemas.openxmlformats.org/drawingml/2006/main">
              <a:ext uri="{FF2B5EF4-FFF2-40B4-BE49-F238E27FC236}">
                <a16:creationId xmlns:a16="http://schemas.microsoft.com/office/drawing/2014/main" id="{9EB0D7FA-A8D7-4C8A-B614-318E7B46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footer-2-source">
            <a:extLst xmlns:a="http://schemas.openxmlformats.org/drawingml/2006/main">
              <a:ext uri="{FF2B5EF4-FFF2-40B4-BE49-F238E27FC236}">
                <a16:creationId xmlns:a16="http://schemas.microsoft.com/office/drawing/2014/main" id="{47E4933E-A815-4B39-81B1-D6150D49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来源：正式报告 1.2、7.8-7.10</a:t>
            </a:r>
          </a:p>
        </p:txBody>
      </p:sp>
      <p:sp>
        <p:nvSpPr>
          <p:cNvPr id="24" name="footer-2-page">
            <a:extLst xmlns:a="http://schemas.openxmlformats.org/drawingml/2006/main">
              <a:ext uri="{FF2B5EF4-FFF2-40B4-BE49-F238E27FC236}">
                <a16:creationId xmlns:a16="http://schemas.microsoft.com/office/drawing/2014/main" id="{2F93D37E-D210-468F-9AB3-C9BC6252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13614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6B316DB-AAF4-453E-8BCD-30FB2523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F5AA445-5D8C-49CA-BCCB-7B44A0D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AA59B0AB-D436-4864-94E5-E2356B3A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KNOWLEDGE BOUNDARY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6D0EE96-3203-4B76-836E-2FB7C5B3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把范围压缩到 6 页官方文档，才让每条结论可追溯</a:t>
            </a:r>
          </a:p>
        </p:txBody>
      </p:sp>
      <p:sp>
        <p:nvSpPr>
          <p:cNvPr id="5" name="source-1-tick">
            <a:extLst xmlns:a="http://schemas.openxmlformats.org/drawingml/2006/main">
              <a:ext uri="{FF2B5EF4-FFF2-40B4-BE49-F238E27FC236}">
                <a16:creationId xmlns:a16="http://schemas.microsoft.com/office/drawing/2014/main" id="{07F4EF28-23CB-4809-8466-0285B949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ource-1-label">
            <a:extLst xmlns:a="http://schemas.openxmlformats.org/drawingml/2006/main">
              <a:ext uri="{FF2B5EF4-FFF2-40B4-BE49-F238E27FC236}">
                <a16:creationId xmlns:a16="http://schemas.microsoft.com/office/drawing/2014/main" id="{41725AE7-BB3E-434B-928B-92B823A3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线性模型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E3971-510C-479C-ACD2-C424D096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8" name="source-2-tick">
            <a:extLst xmlns:a="http://schemas.openxmlformats.org/drawingml/2006/main">
              <a:ext uri="{FF2B5EF4-FFF2-40B4-BE49-F238E27FC236}">
                <a16:creationId xmlns:a16="http://schemas.microsoft.com/office/drawing/2014/main" id="{C5D3AB49-ED98-4D25-B1CF-A0F1B740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240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ource-2-label">
            <a:extLst xmlns:a="http://schemas.openxmlformats.org/drawingml/2006/main">
              <a:ext uri="{FF2B5EF4-FFF2-40B4-BE49-F238E27FC236}">
                <a16:creationId xmlns:a16="http://schemas.microsoft.com/office/drawing/2014/main" id="{CCD7A7E1-2222-4891-82F2-2579B2B1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8597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支持向量机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FDD90-4117-4B9C-B5B0-35F6C1DA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574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11" name="source-3-tick">
            <a:extLst xmlns:a="http://schemas.openxmlformats.org/drawingml/2006/main">
              <a:ext uri="{FF2B5EF4-FFF2-40B4-BE49-F238E27FC236}">
                <a16:creationId xmlns:a16="http://schemas.microsoft.com/office/drawing/2014/main" id="{0839BF1D-FB9A-4015-9EF7-65BB5BF3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ource-3-label">
            <a:extLst xmlns:a="http://schemas.openxmlformats.org/drawingml/2006/main">
              <a:ext uri="{FF2B5EF4-FFF2-40B4-BE49-F238E27FC236}">
                <a16:creationId xmlns:a16="http://schemas.microsoft.com/office/drawing/2014/main" id="{7F4D5A54-2A87-45FD-8380-8B5DE8CF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8597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决策树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8CD6A-B3D0-49DF-AC6C-3822F2BA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14" name="source-4-tick">
            <a:extLst xmlns:a="http://schemas.openxmlformats.org/drawingml/2006/main">
              <a:ext uri="{FF2B5EF4-FFF2-40B4-BE49-F238E27FC236}">
                <a16:creationId xmlns:a16="http://schemas.microsoft.com/office/drawing/2014/main" id="{1DEC8D32-AC33-4E45-BFA5-C10410F9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ource-4-label">
            <a:extLst xmlns:a="http://schemas.openxmlformats.org/drawingml/2006/main">
              <a:ext uri="{FF2B5EF4-FFF2-40B4-BE49-F238E27FC236}">
                <a16:creationId xmlns:a16="http://schemas.microsoft.com/office/drawing/2014/main" id="{F25BA799-3760-4BA3-A63B-6BF4ED9E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8597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集成学习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6FB04-974E-4271-A388-E2B84030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17" name="source-5-tick">
            <a:extLst xmlns:a="http://schemas.openxmlformats.org/drawingml/2006/main">
              <a:ext uri="{FF2B5EF4-FFF2-40B4-BE49-F238E27FC236}">
                <a16:creationId xmlns:a16="http://schemas.microsoft.com/office/drawing/2014/main" id="{1C821C11-50E0-4999-96B0-25710035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ource-5-label">
            <a:extLst xmlns:a="http://schemas.openxmlformats.org/drawingml/2006/main">
              <a:ext uri="{FF2B5EF4-FFF2-40B4-BE49-F238E27FC236}">
                <a16:creationId xmlns:a16="http://schemas.microsoft.com/office/drawing/2014/main" id="{F690FCF9-46BD-451B-99BB-0A83FCCA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8597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聚类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3AFB7-5B1A-49D2-B3FF-52F5241B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S5</a:t>
            </a:r>
          </a:p>
        </p:txBody>
      </p:sp>
      <p:sp>
        <p:nvSpPr>
          <p:cNvPr id="20" name="source-6-tick">
            <a:extLst xmlns:a="http://schemas.openxmlformats.org/drawingml/2006/main">
              <a:ext uri="{FF2B5EF4-FFF2-40B4-BE49-F238E27FC236}">
                <a16:creationId xmlns:a16="http://schemas.microsoft.com/office/drawing/2014/main" id="{C6CB9BAB-768B-4130-B77D-B5BBC4CF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240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ource-6-label">
            <a:extLst xmlns:a="http://schemas.openxmlformats.org/drawingml/2006/main">
              <a:ext uri="{FF2B5EF4-FFF2-40B4-BE49-F238E27FC236}">
                <a16:creationId xmlns:a16="http://schemas.microsoft.com/office/drawing/2014/main" id="{BAE9311B-C119-4AEF-8DB6-78228ADB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8597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指标评估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73429-9178-441C-9BB7-D6B415F4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5745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S6</a:t>
            </a:r>
          </a:p>
        </p:txBody>
      </p:sp>
      <p:sp>
        <p:nvSpPr>
          <p:cNvPr id="23" name="sources-to-chunks-line">
            <a:extLst xmlns:a="http://schemas.openxmlformats.org/drawingml/2006/main">
              <a:ext uri="{FF2B5EF4-FFF2-40B4-BE49-F238E27FC236}">
                <a16:creationId xmlns:a16="http://schemas.microsoft.com/office/drawing/2014/main" id="{A328F925-6E3F-4B31-9E9C-23F756BD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62275"/>
            <a:ext cx="859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ources-to-chunks-head">
            <a:extLst xmlns:a="http://schemas.openxmlformats.org/drawingml/2006/main">
              <a:ext uri="{FF2B5EF4-FFF2-40B4-BE49-F238E27FC236}">
                <a16:creationId xmlns:a16="http://schemas.microsoft.com/office/drawing/2014/main" id="{4D71859A-31AA-4768-A5C6-2A8DBFBB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003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BD2D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BD2D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5" name="chunk-band">
            <a:extLst xmlns:a="http://schemas.openxmlformats.org/drawingml/2006/main">
              <a:ext uri="{FF2B5EF4-FFF2-40B4-BE49-F238E27FC236}">
                <a16:creationId xmlns:a16="http://schemas.microsoft.com/office/drawing/2014/main" id="{937ECE88-EF74-4419-9AAA-90BAAF9E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895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15223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180 CHUNKS  ·  稳定 Chunk ID  ·  标题 / 正文 / 来源绑定</a:t>
            </a:r>
          </a:p>
        </p:txBody>
      </p:sp>
      <p:sp>
        <p:nvSpPr>
          <p:cNvPr id="26" name="split-trunk">
            <a:extLst xmlns:a="http://schemas.openxmlformats.org/drawingml/2006/main">
              <a:ext uri="{FF2B5EF4-FFF2-40B4-BE49-F238E27FC236}">
                <a16:creationId xmlns:a16="http://schemas.microsoft.com/office/drawing/2014/main" id="{081510A2-7459-4528-B6D6-E516B663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719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plit-horizontal">
            <a:extLst xmlns:a="http://schemas.openxmlformats.org/drawingml/2006/main">
              <a:ext uri="{FF2B5EF4-FFF2-40B4-BE49-F238E27FC236}">
                <a16:creationId xmlns:a16="http://schemas.microsoft.com/office/drawing/2014/main" id="{CA284267-DFC8-4522-BED9-8873399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76725"/>
            <a:ext cx="605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plit-left">
            <a:extLst xmlns:a="http://schemas.openxmlformats.org/drawingml/2006/main">
              <a:ext uri="{FF2B5EF4-FFF2-40B4-BE49-F238E27FC236}">
                <a16:creationId xmlns:a16="http://schemas.microsoft.com/office/drawing/2014/main" id="{34C40639-35FB-46DD-BCD6-F60F15C4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76725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plit-right">
            <a:extLst xmlns:a="http://schemas.openxmlformats.org/drawingml/2006/main">
              <a:ext uri="{FF2B5EF4-FFF2-40B4-BE49-F238E27FC236}">
                <a16:creationId xmlns:a16="http://schemas.microsoft.com/office/drawing/2014/main" id="{BAE97BA5-07BB-409B-AC92-09DB2C5B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76725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-layer">
            <a:extLst xmlns:a="http://schemas.openxmlformats.org/drawingml/2006/main">
              <a:ext uri="{FF2B5EF4-FFF2-40B4-BE49-F238E27FC236}">
                <a16:creationId xmlns:a16="http://schemas.microsoft.com/office/drawing/2014/main" id="{54EBC9C0-6203-4310-99B6-97C4B729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D"/>
          </a:solidFill>
          <a:ln xmlns:a="http://schemas.openxmlformats.org/drawingml/2006/main" w="9525">
            <a:solidFill>
              <a:srgbClr val="1D5FD0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文本证据层</a:t>
            </a:r>
          </a:p>
          <a:p xmlns:a="http://schemas.openxmlformats.org/drawingml/2006/main">
            <a:pPr algn="ctr">
              <a:def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TF-IDF 检索 + 逐字 quote</a:t>
            </a:r>
          </a:p>
        </p:txBody>
      </p:sp>
      <p:sp>
        <p:nvSpPr>
          <p:cNvPr id="31" name="graph-layer">
            <a:extLst xmlns:a="http://schemas.openxmlformats.org/drawingml/2006/main">
              <a:ext uri="{FF2B5EF4-FFF2-40B4-BE49-F238E27FC236}">
                <a16:creationId xmlns:a16="http://schemas.microsoft.com/office/drawing/2014/main" id="{36552464-1E6C-4739-9C74-5294A37F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结构证据层</a:t>
            </a:r>
          </a:p>
          <a:p xmlns:a="http://schemas.openxmlformats.org/drawingml/2006/main">
            <a:pPr algn="ctr">
              <a:def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50 实体 + 100 approved 关系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2109A4-9FDC-4EF7-8CCD-8D0968BA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626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E 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561177-90AA-469B-A422-7B7AD638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05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文本证据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E1A1AE-51F6-49BE-81DE-A4F01E3B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5626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656C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656C9"/>
                </a:solidFill>
                <a:latin typeface="Aptos"/>
                <a:ea typeface="Aptos"/>
                <a:cs typeface="Aptos"/>
              </a:rPr>
              <a:t>P 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AD68A4-2603-4C8E-B4E1-28A4FBEB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905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图路径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2DDA69-5301-43D3-BCD9-E9A8BB1F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626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R 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7C6645-9A9E-417D-BF20-1657D1DB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905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审核关系</a:t>
            </a:r>
          </a:p>
        </p:txBody>
      </p:sp>
      <p:sp>
        <p:nvSpPr>
          <p:cNvPr id="38" name="footer-3-rule">
            <a:extLst xmlns:a="http://schemas.openxmlformats.org/drawingml/2006/main">
              <a:ext uri="{FF2B5EF4-FFF2-40B4-BE49-F238E27FC236}">
                <a16:creationId xmlns:a16="http://schemas.microsoft.com/office/drawing/2014/main" id="{578D920B-8FD7-4BEF-B0E9-B0DF29DB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footer-3-source">
            <a:extLst xmlns:a="http://schemas.openxmlformats.org/drawingml/2006/main">
              <a:ext uri="{FF2B5EF4-FFF2-40B4-BE49-F238E27FC236}">
                <a16:creationId xmlns:a16="http://schemas.microsoft.com/office/drawing/2014/main" id="{DE20B666-ED4F-4182-9C13-5791277D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来源：正式报告第 3 章｜知识库仅覆盖 6 个官方页面</a:t>
            </a:r>
          </a:p>
        </p:txBody>
      </p:sp>
      <p:sp>
        <p:nvSpPr>
          <p:cNvPr id="40" name="footer-3-page">
            <a:extLst xmlns:a="http://schemas.openxmlformats.org/drawingml/2006/main">
              <a:ext uri="{FF2B5EF4-FFF2-40B4-BE49-F238E27FC236}">
                <a16:creationId xmlns:a16="http://schemas.microsoft.com/office/drawing/2014/main" id="{66AA73E8-C74C-4F32-845C-AE6CA4B4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65692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BCA3272-A616-49C2-9A76-6C75C375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8C5EFA96-B922-4D83-84C7-862F2098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84F2619D-F720-4C3A-B33C-A3A44650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CA236B8-7209-435D-B32E-5E8D559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规则路由负责稳定，LLM 只负责组织证据</a:t>
            </a:r>
          </a:p>
        </p:txBody>
      </p:sp>
      <p:sp>
        <p:nvSpPr>
          <p:cNvPr id="5" name="arch-query">
            <a:extLst xmlns:a="http://schemas.openxmlformats.org/drawingml/2006/main">
              <a:ext uri="{FF2B5EF4-FFF2-40B4-BE49-F238E27FC236}">
                <a16:creationId xmlns:a16="http://schemas.microsoft.com/office/drawing/2014/main" id="{4B99257C-EC61-41A6-8B71-7E29E89D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D"/>
          </a:solidFill>
          <a:ln xmlns:a="http://schemas.openxmlformats.org/drawingml/2006/main" w="9525">
            <a:solidFill>
              <a:srgbClr val="1D5FD0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6" name="arch-router">
            <a:extLst xmlns:a="http://schemas.openxmlformats.org/drawingml/2006/main">
              <a:ext uri="{FF2B5EF4-FFF2-40B4-BE49-F238E27FC236}">
                <a16:creationId xmlns:a16="http://schemas.microsoft.com/office/drawing/2014/main" id="{F6AB0FFC-B613-4E0C-9549-94E31B0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765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规则 Router</a:t>
            </a:r>
          </a:p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意图 + 模式</a:t>
            </a:r>
          </a:p>
        </p:txBody>
      </p:sp>
      <p:sp>
        <p:nvSpPr>
          <p:cNvPr id="7" name="arch-vector">
            <a:extLst xmlns:a="http://schemas.openxmlformats.org/drawingml/2006/main">
              <a:ext uri="{FF2B5EF4-FFF2-40B4-BE49-F238E27FC236}">
                <a16:creationId xmlns:a16="http://schemas.microsoft.com/office/drawing/2014/main" id="{FEB9D472-4D9D-4F43-805D-2E449FA1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D"/>
          </a:solidFill>
          <a:ln xmlns:a="http://schemas.openxmlformats.org/drawingml/2006/main" w="9525">
            <a:solidFill>
              <a:srgbClr val="1D5FD0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Vector</a:t>
            </a:r>
          </a:p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Retriever</a:t>
            </a:r>
          </a:p>
        </p:txBody>
      </p:sp>
      <p:sp>
        <p:nvSpPr>
          <p:cNvPr id="8" name="arch-graph">
            <a:extLst xmlns:a="http://schemas.openxmlformats.org/drawingml/2006/main">
              <a:ext uri="{FF2B5EF4-FFF2-40B4-BE49-F238E27FC236}">
                <a16:creationId xmlns:a16="http://schemas.microsoft.com/office/drawing/2014/main" id="{4A9FC594-D40C-4C58-8EEE-2F57FA98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655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Graph</a:t>
            </a:r>
          </a:p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Retriever</a:t>
            </a:r>
          </a:p>
        </p:txBody>
      </p:sp>
      <p:sp>
        <p:nvSpPr>
          <p:cNvPr id="9" name="arch-hybrid">
            <a:extLst xmlns:a="http://schemas.openxmlformats.org/drawingml/2006/main">
              <a:ext uri="{FF2B5EF4-FFF2-40B4-BE49-F238E27FC236}">
                <a16:creationId xmlns:a16="http://schemas.microsoft.com/office/drawing/2014/main" id="{2F35FC7E-17A1-4B3F-B0C8-31392895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00475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DA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Hybrid</a:t>
            </a:r>
          </a:p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Retriever</a:t>
            </a:r>
          </a:p>
        </p:txBody>
      </p:sp>
      <p:sp>
        <p:nvSpPr>
          <p:cNvPr id="10" name="arch-packer">
            <a:extLst xmlns:a="http://schemas.openxmlformats.org/drawingml/2006/main">
              <a:ext uri="{FF2B5EF4-FFF2-40B4-BE49-F238E27FC236}">
                <a16:creationId xmlns:a16="http://schemas.microsoft.com/office/drawing/2014/main" id="{9A835D7E-B703-4E16-B271-885F8D4D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DA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Evidence Packer</a:t>
            </a:r>
          </a:p>
          <a:p xmlns:a="http://schemas.openxmlformats.org/drawingml/2006/main">
            <a:pPr algn="ctr">
              <a:def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去重 · 配额 · ID 边界</a:t>
            </a:r>
          </a:p>
        </p:txBody>
      </p:sp>
      <p:sp>
        <p:nvSpPr>
          <p:cNvPr id="11" name="arch-generator">
            <a:extLst xmlns:a="http://schemas.openxmlformats.org/drawingml/2006/main">
              <a:ext uri="{FF2B5EF4-FFF2-40B4-BE49-F238E27FC236}">
                <a16:creationId xmlns:a16="http://schemas.microsoft.com/office/drawing/2014/main" id="{881126A1-5E98-4A84-80B9-1BB1DB2D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D"/>
          </a:solidFill>
          <a:ln xmlns:a="http://schemas.openxmlformats.org/drawingml/2006/main" w="9525">
            <a:solidFill>
              <a:srgbClr val="1D5FD0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qwen3:4b</a:t>
            </a:r>
          </a:p>
          <a:p xmlns:a="http://schemas.openxmlformats.org/drawingml/2006/main">
            <a:pPr algn="ctr">
              <a:def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Answer Generator</a:t>
            </a:r>
          </a:p>
          <a:p xmlns:a="http://schemas.openxmlformats.org/drawingml/2006/main">
            <a:pPr algn="ctr">
              <a:def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失败回退规则生成</a:t>
            </a:r>
          </a:p>
        </p:txBody>
      </p:sp>
      <p:sp>
        <p:nvSpPr>
          <p:cNvPr id="12" name="arch-verifier">
            <a:extLst xmlns:a="http://schemas.openxmlformats.org/drawingml/2006/main">
              <a:ext uri="{FF2B5EF4-FFF2-40B4-BE49-F238E27FC236}">
                <a16:creationId xmlns:a16="http://schemas.microsoft.com/office/drawing/2014/main" id="{633EA2EB-543C-4444-BC0B-A2655C2A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765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Claim-level</a:t>
            </a:r>
          </a:p>
          <a:p xmlns:a="http://schemas.openxmlformats.org/drawingml/2006/main">
            <a:pPr algn="ctr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Verifier</a:t>
            </a:r>
          </a:p>
        </p:txBody>
      </p:sp>
      <p:sp>
        <p:nvSpPr>
          <p:cNvPr id="13" name="query-router-line">
            <a:extLst xmlns:a="http://schemas.openxmlformats.org/drawingml/2006/main">
              <a:ext uri="{FF2B5EF4-FFF2-40B4-BE49-F238E27FC236}">
                <a16:creationId xmlns:a16="http://schemas.microsoft.com/office/drawing/2014/main" id="{4183BC9D-4F99-42FE-AA50-FE3FD92D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query-router-head">
            <a:extLst xmlns:a="http://schemas.openxmlformats.org/drawingml/2006/main">
              <a:ext uri="{FF2B5EF4-FFF2-40B4-BE49-F238E27FC236}">
                <a16:creationId xmlns:a16="http://schemas.microsoft.com/office/drawing/2014/main" id="{A559E26F-FCE0-4D7B-A14F-0AEFF479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00375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router-trunk-line">
            <a:extLst xmlns:a="http://schemas.openxmlformats.org/drawingml/2006/main">
              <a:ext uri="{FF2B5EF4-FFF2-40B4-BE49-F238E27FC236}">
                <a16:creationId xmlns:a16="http://schemas.microsoft.com/office/drawing/2014/main" id="{D4883E13-5B77-4DE7-9F02-637B936E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623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outer-trunk-head">
            <a:extLst xmlns:a="http://schemas.openxmlformats.org/drawingml/2006/main">
              <a:ext uri="{FF2B5EF4-FFF2-40B4-BE49-F238E27FC236}">
                <a16:creationId xmlns:a16="http://schemas.microsoft.com/office/drawing/2014/main" id="{0DB96B85-F5BE-459B-8F19-62859037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0375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7" name="route-vertical">
            <a:extLst xmlns:a="http://schemas.openxmlformats.org/drawingml/2006/main">
              <a:ext uri="{FF2B5EF4-FFF2-40B4-BE49-F238E27FC236}">
                <a16:creationId xmlns:a16="http://schemas.microsoft.com/office/drawing/2014/main" id="{29BCF24F-6BB2-410C-A391-7D9EE203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47900"/>
            <a:ext cx="190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oute-vector-line">
            <a:extLst xmlns:a="http://schemas.openxmlformats.org/drawingml/2006/main">
              <a:ext uri="{FF2B5EF4-FFF2-40B4-BE49-F238E27FC236}">
                <a16:creationId xmlns:a16="http://schemas.microsoft.com/office/drawing/2014/main" id="{C7581CEF-8448-4085-988E-54133DB1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3837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oute-vector-head">
            <a:extLst xmlns:a="http://schemas.openxmlformats.org/drawingml/2006/main">
              <a:ext uri="{FF2B5EF4-FFF2-40B4-BE49-F238E27FC236}">
                <a16:creationId xmlns:a16="http://schemas.microsoft.com/office/drawing/2014/main" id="{6B9F3366-6221-4CEB-9455-A5B32E82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764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route-graph-line">
            <a:extLst xmlns:a="http://schemas.openxmlformats.org/drawingml/2006/main">
              <a:ext uri="{FF2B5EF4-FFF2-40B4-BE49-F238E27FC236}">
                <a16:creationId xmlns:a16="http://schemas.microsoft.com/office/drawing/2014/main" id="{EC9442B8-AC45-48A1-99E7-0C86C0C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6230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oute-graph-head">
            <a:extLst xmlns:a="http://schemas.openxmlformats.org/drawingml/2006/main">
              <a:ext uri="{FF2B5EF4-FFF2-40B4-BE49-F238E27FC236}">
                <a16:creationId xmlns:a16="http://schemas.microsoft.com/office/drawing/2014/main" id="{71942800-1E99-4AD0-ACB7-43F7E611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0375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2" name="route-hybrid-line">
            <a:extLst xmlns:a="http://schemas.openxmlformats.org/drawingml/2006/main">
              <a:ext uri="{FF2B5EF4-FFF2-40B4-BE49-F238E27FC236}">
                <a16:creationId xmlns:a16="http://schemas.microsoft.com/office/drawing/2014/main" id="{48B05EAE-EE9A-4E93-A732-B8B3E9D7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86225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oute-hybrid-head">
            <a:extLst xmlns:a="http://schemas.openxmlformats.org/drawingml/2006/main">
              <a:ext uri="{FF2B5EF4-FFF2-40B4-BE49-F238E27FC236}">
                <a16:creationId xmlns:a16="http://schemas.microsoft.com/office/drawing/2014/main" id="{92BD930B-80B3-4D95-8A12-FA21B9D9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243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3A72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3A72F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4" name="retrieve-vertical">
            <a:extLst xmlns:a="http://schemas.openxmlformats.org/drawingml/2006/main">
              <a:ext uri="{FF2B5EF4-FFF2-40B4-BE49-F238E27FC236}">
                <a16:creationId xmlns:a16="http://schemas.microsoft.com/office/drawing/2014/main" id="{F5D3E14B-08DE-4E2E-92F4-8D07F3A5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90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vector-fuse-line">
            <a:extLst xmlns:a="http://schemas.openxmlformats.org/drawingml/2006/main">
              <a:ext uri="{FF2B5EF4-FFF2-40B4-BE49-F238E27FC236}">
                <a16:creationId xmlns:a16="http://schemas.microsoft.com/office/drawing/2014/main" id="{24A78B2E-1DFE-4EDA-827C-1A171456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383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vector-fuse-head">
            <a:extLst xmlns:a="http://schemas.openxmlformats.org/drawingml/2006/main">
              <a:ext uri="{FF2B5EF4-FFF2-40B4-BE49-F238E27FC236}">
                <a16:creationId xmlns:a16="http://schemas.microsoft.com/office/drawing/2014/main" id="{227773D1-22B8-4A25-8E2F-52B58490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764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7" name="graph-fuse-line">
            <a:extLst xmlns:a="http://schemas.openxmlformats.org/drawingml/2006/main">
              <a:ext uri="{FF2B5EF4-FFF2-40B4-BE49-F238E27FC236}">
                <a16:creationId xmlns:a16="http://schemas.microsoft.com/office/drawing/2014/main" id="{D3AC7D39-6B9A-490B-83E7-25F46173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623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graph-fuse-head">
            <a:extLst xmlns:a="http://schemas.openxmlformats.org/drawingml/2006/main">
              <a:ext uri="{FF2B5EF4-FFF2-40B4-BE49-F238E27FC236}">
                <a16:creationId xmlns:a16="http://schemas.microsoft.com/office/drawing/2014/main" id="{3A7C0DBF-1934-499C-AEC8-E75F91B5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0375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9" name="hybrid-fuse-line">
            <a:extLst xmlns:a="http://schemas.openxmlformats.org/drawingml/2006/main">
              <a:ext uri="{FF2B5EF4-FFF2-40B4-BE49-F238E27FC236}">
                <a16:creationId xmlns:a16="http://schemas.microsoft.com/office/drawing/2014/main" id="{42206191-77E1-47DC-9D19-7F1264DD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862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hybrid-fuse-head">
            <a:extLst xmlns:a="http://schemas.openxmlformats.org/drawingml/2006/main">
              <a:ext uri="{FF2B5EF4-FFF2-40B4-BE49-F238E27FC236}">
                <a16:creationId xmlns:a16="http://schemas.microsoft.com/office/drawing/2014/main" id="{E44FFA2A-BA00-4650-83A8-E3B51591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243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3A72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3A72F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1" name="packer-generator-line">
            <a:extLst xmlns:a="http://schemas.openxmlformats.org/drawingml/2006/main">
              <a:ext uri="{FF2B5EF4-FFF2-40B4-BE49-F238E27FC236}">
                <a16:creationId xmlns:a16="http://schemas.microsoft.com/office/drawing/2014/main" id="{C6738DE6-7BE2-4714-86A5-D6B75A99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6230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packer-generator-head">
            <a:extLst xmlns:a="http://schemas.openxmlformats.org/drawingml/2006/main">
              <a:ext uri="{FF2B5EF4-FFF2-40B4-BE49-F238E27FC236}">
                <a16:creationId xmlns:a16="http://schemas.microsoft.com/office/drawing/2014/main" id="{BDA07221-FF7B-4732-B3EB-1982C1B6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0375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3" name="generator-verifier-line">
            <a:extLst xmlns:a="http://schemas.openxmlformats.org/drawingml/2006/main">
              <a:ext uri="{FF2B5EF4-FFF2-40B4-BE49-F238E27FC236}">
                <a16:creationId xmlns:a16="http://schemas.microsoft.com/office/drawing/2014/main" id="{23001D17-4C1E-4370-AFCE-199382CE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62300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generator-verifier-head">
            <a:extLst xmlns:a="http://schemas.openxmlformats.org/drawingml/2006/main">
              <a:ext uri="{FF2B5EF4-FFF2-40B4-BE49-F238E27FC236}">
                <a16:creationId xmlns:a16="http://schemas.microsoft.com/office/drawing/2014/main" id="{C550797E-05D1-4FF3-B219-D04DB624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00375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5" name="decision-trunk-v">
            <a:extLst xmlns:a="http://schemas.openxmlformats.org/drawingml/2006/main">
              <a:ext uri="{FF2B5EF4-FFF2-40B4-BE49-F238E27FC236}">
                <a16:creationId xmlns:a16="http://schemas.microsoft.com/office/drawing/2014/main" id="{075D7A68-FC46-4B69-8DE4-9F28E355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4671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decision-trunk-h">
            <a:extLst xmlns:a="http://schemas.openxmlformats.org/drawingml/2006/main">
              <a:ext uri="{FF2B5EF4-FFF2-40B4-BE49-F238E27FC236}">
                <a16:creationId xmlns:a16="http://schemas.microsoft.com/office/drawing/2014/main" id="{3387B527-DA1C-467B-BF6A-0F3A3D3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57650"/>
            <a:ext cx="2352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decision-drop-0">
            <a:extLst xmlns:a="http://schemas.openxmlformats.org/drawingml/2006/main">
              <a:ext uri="{FF2B5EF4-FFF2-40B4-BE49-F238E27FC236}">
                <a16:creationId xmlns:a16="http://schemas.microsoft.com/office/drawing/2014/main" id="{A3B335D1-530F-4FC8-BA77-F2B3C2A9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57650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decision-drop-1">
            <a:extLst xmlns:a="http://schemas.openxmlformats.org/drawingml/2006/main">
              <a:ext uri="{FF2B5EF4-FFF2-40B4-BE49-F238E27FC236}">
                <a16:creationId xmlns:a16="http://schemas.microsoft.com/office/drawing/2014/main" id="{9BB2DA4E-F5EA-4D98-98E0-FE80B04D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57650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decision-drop-2">
            <a:extLst xmlns:a="http://schemas.openxmlformats.org/drawingml/2006/main">
              <a:ext uri="{FF2B5EF4-FFF2-40B4-BE49-F238E27FC236}">
                <a16:creationId xmlns:a16="http://schemas.microsoft.com/office/drawing/2014/main" id="{9494590E-2FA4-47E6-A225-809DA63F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57650"/>
            <a:ext cx="19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decision-pass">
            <a:extLst xmlns:a="http://schemas.openxmlformats.org/drawingml/2006/main">
              <a:ext uri="{FF2B5EF4-FFF2-40B4-BE49-F238E27FC236}">
                <a16:creationId xmlns:a16="http://schemas.microsoft.com/office/drawing/2014/main" id="{88108BF9-4515-4A32-BDE6-B7FD696A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57675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1" name="decision-partial">
            <a:extLst xmlns:a="http://schemas.openxmlformats.org/drawingml/2006/main">
              <a:ext uri="{FF2B5EF4-FFF2-40B4-BE49-F238E27FC236}">
                <a16:creationId xmlns:a16="http://schemas.microsoft.com/office/drawing/2014/main" id="{BEC3C897-48AB-4952-8DFA-1A6DA192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57675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DA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rPr>
              <a:t>PARTIAL</a:t>
            </a:r>
          </a:p>
        </p:txBody>
      </p:sp>
      <p:sp>
        <p:nvSpPr>
          <p:cNvPr id="42" name="decision-refuse">
            <a:extLst xmlns:a="http://schemas.openxmlformats.org/drawingml/2006/main">
              <a:ext uri="{FF2B5EF4-FFF2-40B4-BE49-F238E27FC236}">
                <a16:creationId xmlns:a16="http://schemas.microsoft.com/office/drawing/2014/main" id="{10373B67-1C04-432E-B72D-396493B5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57675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6"/>
          </a:solidFill>
          <a:ln xmlns:a="http://schemas.openxmlformats.org/drawingml/2006/main" w="9525">
            <a:solidFill>
              <a:srgbClr val="D84A3A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84A3A"/>
                </a:solidFill>
                <a:latin typeface="Microsoft YaHei"/>
                <a:ea typeface="Microsoft YaHei"/>
                <a:cs typeface="Microsoft YaHei"/>
              </a:rPr>
              <a:t>REFUSE</a:t>
            </a:r>
          </a:p>
        </p:txBody>
      </p:sp>
      <p:sp>
        <p:nvSpPr>
          <p:cNvPr id="43" name="retry-out">
            <a:extLst xmlns:a="http://schemas.openxmlformats.org/drawingml/2006/main">
              <a:ext uri="{FF2B5EF4-FFF2-40B4-BE49-F238E27FC236}">
                <a16:creationId xmlns:a16="http://schemas.microsoft.com/office/drawing/2014/main" id="{9BCC802C-2036-43DA-9AC1-B0B16061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623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try-down">
            <a:extLst xmlns:a="http://schemas.openxmlformats.org/drawingml/2006/main">
              <a:ext uri="{FF2B5EF4-FFF2-40B4-BE49-F238E27FC236}">
                <a16:creationId xmlns:a16="http://schemas.microsoft.com/office/drawing/2014/main" id="{9613824A-57B8-4CD4-B2D4-480F3E6F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3162300"/>
            <a:ext cx="1905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try-left">
            <a:extLst xmlns:a="http://schemas.openxmlformats.org/drawingml/2006/main">
              <a:ext uri="{FF2B5EF4-FFF2-40B4-BE49-F238E27FC236}">
                <a16:creationId xmlns:a16="http://schemas.microsoft.com/office/drawing/2014/main" id="{00F27B4A-1A00-43C0-83F9-03FF1CFD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19725"/>
            <a:ext cx="6981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try-head">
            <a:extLst xmlns:a="http://schemas.openxmlformats.org/drawingml/2006/main">
              <a:ext uri="{FF2B5EF4-FFF2-40B4-BE49-F238E27FC236}">
                <a16:creationId xmlns:a16="http://schemas.microsoft.com/office/drawing/2014/main" id="{9B520070-1664-49E8-8309-5E6BDB6F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578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3A72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3A72F"/>
                </a:solidFill>
                <a:latin typeface="Aptos"/>
                <a:ea typeface="Aptos"/>
                <a:cs typeface="Aptos"/>
              </a:rPr>
              <a:t>‹</a:t>
            </a:r>
          </a:p>
        </p:txBody>
      </p:sp>
      <p:sp>
        <p:nvSpPr>
          <p:cNvPr id="47" name="retry-label">
            <a:extLst xmlns:a="http://schemas.openxmlformats.org/drawingml/2006/main">
              <a:ext uri="{FF2B5EF4-FFF2-40B4-BE49-F238E27FC236}">
                <a16:creationId xmlns:a16="http://schemas.microsoft.com/office/drawing/2014/main" id="{871DA9B6-D0AB-4F38-9D3E-2EE5004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485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rPr>
              <a:t>仅当 0 条 Claim 可保留：扩大 Hybrid Top-K，最多重试 1 次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1D01ED-0CCB-4978-AC50-E5B9E6D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476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D5F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5FD0"/>
                </a:solidFill>
                <a:latin typeface="Microsoft YaHei"/>
                <a:ea typeface="Microsoft YaHei"/>
                <a:cs typeface="Microsoft YaHei"/>
              </a:rPr>
              <a:t>LLM 不参与规划与检索</a:t>
            </a:r>
          </a:p>
        </p:txBody>
      </p:sp>
      <p:sp>
        <p:nvSpPr>
          <p:cNvPr id="49" name="footer-4-rule">
            <a:extLst xmlns:a="http://schemas.openxmlformats.org/drawingml/2006/main">
              <a:ext uri="{FF2B5EF4-FFF2-40B4-BE49-F238E27FC236}">
                <a16:creationId xmlns:a16="http://schemas.microsoft.com/office/drawing/2014/main" id="{62AD9C85-EB34-48CF-A17B-922510B7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footer-4-source">
            <a:extLst xmlns:a="http://schemas.openxmlformats.org/drawingml/2006/main">
              <a:ext uri="{FF2B5EF4-FFF2-40B4-BE49-F238E27FC236}">
                <a16:creationId xmlns:a16="http://schemas.microsoft.com/office/drawing/2014/main" id="{359E3576-E2D8-449F-943A-1BC5EC99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来源：当前 LangGraph 主链路｜Rule Router 固定，LLM 仅在 answer 节点参与</a:t>
            </a:r>
          </a:p>
        </p:txBody>
      </p:sp>
      <p:sp>
        <p:nvSpPr>
          <p:cNvPr id="51" name="footer-4-page">
            <a:extLst xmlns:a="http://schemas.openxmlformats.org/drawingml/2006/main">
              <a:ext uri="{FF2B5EF4-FFF2-40B4-BE49-F238E27FC236}">
                <a16:creationId xmlns:a16="http://schemas.microsoft.com/office/drawing/2014/main" id="{5F879FB3-9C4C-4E27-B1B4-D3E5EF87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58181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CE391F9-563F-47A1-AE9D-674C6F15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DB946DBF-1F7C-4B3E-B2DC-B0CC580F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4BEFCB7B-0E07-42C5-A4F9-ACFC86B0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CLAIM-LEVEL VERIFICATION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52ADB3F-26EB-4263-8CB5-B82DADC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逐 Claim 保留，解决“一条不支持导致整题拒答”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C9842-AF88-4F62-B185-948DB6ED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脱敏 DEV02 机制示意｜随机森林为什么更稳定？</a:t>
            </a:r>
          </a:p>
        </p:txBody>
      </p:sp>
      <p:sp>
        <p:nvSpPr>
          <p:cNvPr id="6" name="claim-pack">
            <a:extLst xmlns:a="http://schemas.openxmlformats.org/drawingml/2006/main">
              <a:ext uri="{FF2B5EF4-FFF2-40B4-BE49-F238E27FC236}">
                <a16:creationId xmlns:a16="http://schemas.microsoft.com/office/drawing/2014/main" id="{418D90BE-2890-425D-AD10-C818F264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09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152238"/>
            </a:solidFill>
            <a:prstDash val="solid"/>
          </a:ln>
        </p:spPr>
        <p:txBody>
          <a:bodyPr xmlns:a="http://schemas.openxmlformats.org/drawingml/2006/main" lIns="228600" tIns="228600" rIns="190500" bIns="1905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 Pack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E1 / E2  文本证据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  图路径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R1  审核关系</a:t>
            </a:r>
          </a:p>
        </p:txBody>
      </p:sp>
      <p:sp>
        <p:nvSpPr>
          <p:cNvPr id="7" name="pack-claims-line">
            <a:extLst xmlns:a="http://schemas.openxmlformats.org/drawingml/2006/main">
              <a:ext uri="{FF2B5EF4-FFF2-40B4-BE49-F238E27FC236}">
                <a16:creationId xmlns:a16="http://schemas.microsoft.com/office/drawing/2014/main" id="{FC23F64B-846C-462C-BE52-EDAF9BFB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623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pack-claims-head">
            <a:extLst xmlns:a="http://schemas.openxmlformats.org/drawingml/2006/main">
              <a:ext uri="{FF2B5EF4-FFF2-40B4-BE49-F238E27FC236}">
                <a16:creationId xmlns:a16="http://schemas.microsoft.com/office/drawing/2014/main" id="{8862DC7B-8E40-45A5-948A-4B99E132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004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claim-C1-id">
            <a:extLst xmlns:a="http://schemas.openxmlformats.org/drawingml/2006/main">
              <a:ext uri="{FF2B5EF4-FFF2-40B4-BE49-F238E27FC236}">
                <a16:creationId xmlns:a16="http://schemas.microsoft.com/office/drawing/2014/main" id="{F778718E-EAC0-4844-B9DC-E8B1BFD5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590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15223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" name="claim-C1-body">
            <a:extLst xmlns:a="http://schemas.openxmlformats.org/drawingml/2006/main">
              <a:ext uri="{FF2B5EF4-FFF2-40B4-BE49-F238E27FC236}">
                <a16:creationId xmlns:a16="http://schemas.microsoft.com/office/drawing/2014/main" id="{A8EAE9A0-A0E5-4363-A16D-9561AEE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764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直接事实 A：存在逐字 quote</a:t>
            </a:r>
          </a:p>
        </p:txBody>
      </p:sp>
      <p:sp>
        <p:nvSpPr>
          <p:cNvPr id="11" name="claim-C1-verify-line">
            <a:extLst xmlns:a="http://schemas.openxmlformats.org/drawingml/2006/main">
              <a:ext uri="{FF2B5EF4-FFF2-40B4-BE49-F238E27FC236}">
                <a16:creationId xmlns:a16="http://schemas.microsoft.com/office/drawing/2014/main" id="{D0000E31-8DBA-4927-9528-4E324E84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907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claim-C1-verify-head">
            <a:extLst xmlns:a="http://schemas.openxmlformats.org/drawingml/2006/main">
              <a:ext uri="{FF2B5EF4-FFF2-40B4-BE49-F238E27FC236}">
                <a16:creationId xmlns:a16="http://schemas.microsoft.com/office/drawing/2014/main" id="{64B6D4CB-1C05-4217-8CF0-D77E558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claim-C1-state">
            <a:extLst xmlns:a="http://schemas.openxmlformats.org/drawingml/2006/main">
              <a:ext uri="{FF2B5EF4-FFF2-40B4-BE49-F238E27FC236}">
                <a16:creationId xmlns:a16="http://schemas.microsoft.com/office/drawing/2014/main" id="{78B1AC4F-A7BA-4A5A-9F8D-4A3576EA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rPr>
              <a:t>RETAIN</a:t>
            </a:r>
          </a:p>
        </p:txBody>
      </p:sp>
      <p:sp>
        <p:nvSpPr>
          <p:cNvPr id="14" name="claim-C2-id">
            <a:extLst xmlns:a="http://schemas.openxmlformats.org/drawingml/2006/main">
              <a:ext uri="{FF2B5EF4-FFF2-40B4-BE49-F238E27FC236}">
                <a16:creationId xmlns:a16="http://schemas.microsoft.com/office/drawing/2014/main" id="{9703CB06-CAF1-4764-B83B-65CAD661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590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15223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5" name="claim-C2-body">
            <a:extLst xmlns:a="http://schemas.openxmlformats.org/drawingml/2006/main">
              <a:ext uri="{FF2B5EF4-FFF2-40B4-BE49-F238E27FC236}">
                <a16:creationId xmlns:a16="http://schemas.microsoft.com/office/drawing/2014/main" id="{895AC2F6-853C-420A-9EE1-3870E556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52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直接事实 B：E / P ID 均有效</a:t>
            </a:r>
          </a:p>
        </p:txBody>
      </p:sp>
      <p:sp>
        <p:nvSpPr>
          <p:cNvPr id="16" name="claim-C2-verify-line">
            <a:extLst xmlns:a="http://schemas.openxmlformats.org/drawingml/2006/main">
              <a:ext uri="{FF2B5EF4-FFF2-40B4-BE49-F238E27FC236}">
                <a16:creationId xmlns:a16="http://schemas.microsoft.com/office/drawing/2014/main" id="{D146ACC0-AFE6-421E-8714-4C2BF5C4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670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laim-C2-verify-head">
            <a:extLst xmlns:a="http://schemas.openxmlformats.org/drawingml/2006/main">
              <a:ext uri="{FF2B5EF4-FFF2-40B4-BE49-F238E27FC236}">
                <a16:creationId xmlns:a16="http://schemas.microsoft.com/office/drawing/2014/main" id="{9D8B8A80-563A-4460-954A-6C0CF5F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8" name="claim-C2-state">
            <a:extLst xmlns:a="http://schemas.openxmlformats.org/drawingml/2006/main">
              <a:ext uri="{FF2B5EF4-FFF2-40B4-BE49-F238E27FC236}">
                <a16:creationId xmlns:a16="http://schemas.microsoft.com/office/drawing/2014/main" id="{228DCBFC-34B2-4F88-A977-0FE82614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rPr>
              <a:t>RETAIN</a:t>
            </a:r>
          </a:p>
        </p:txBody>
      </p:sp>
      <p:sp>
        <p:nvSpPr>
          <p:cNvPr id="19" name="claim-C3-id">
            <a:extLst xmlns:a="http://schemas.openxmlformats.org/drawingml/2006/main">
              <a:ext uri="{FF2B5EF4-FFF2-40B4-BE49-F238E27FC236}">
                <a16:creationId xmlns:a16="http://schemas.microsoft.com/office/drawing/2014/main" id="{14DF156D-E77F-404E-BB42-9B3D0407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29050"/>
            <a:ext cx="590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15223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20" name="claim-C3-body">
            <a:extLst xmlns:a="http://schemas.openxmlformats.org/drawingml/2006/main">
              <a:ext uri="{FF2B5EF4-FFF2-40B4-BE49-F238E27FC236}">
                <a16:creationId xmlns:a16="http://schemas.microsoft.com/office/drawing/2014/main" id="{B6027813-3ECC-488E-832F-54E57474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290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6"/>
          </a:solidFill>
          <a:ln xmlns:a="http://schemas.openxmlformats.org/drawingml/2006/main" w="9525">
            <a:solidFill>
              <a:srgbClr val="D84A3A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quote 不完整，术语覆盖不足</a:t>
            </a:r>
          </a:p>
        </p:txBody>
      </p:sp>
      <p:sp>
        <p:nvSpPr>
          <p:cNvPr id="21" name="claim-C3-verify-line">
            <a:extLst xmlns:a="http://schemas.openxmlformats.org/drawingml/2006/main">
              <a:ext uri="{FF2B5EF4-FFF2-40B4-BE49-F238E27FC236}">
                <a16:creationId xmlns:a16="http://schemas.microsoft.com/office/drawing/2014/main" id="{6D37E7F4-0A6B-4D1A-9085-8706CF46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433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claim-C3-verify-head">
            <a:extLst xmlns:a="http://schemas.openxmlformats.org/drawingml/2006/main">
              <a:ext uri="{FF2B5EF4-FFF2-40B4-BE49-F238E27FC236}">
                <a16:creationId xmlns:a16="http://schemas.microsoft.com/office/drawing/2014/main" id="{A111A09B-FDC2-4EC9-A987-0F213F5E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814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3" name="claim-C3-state">
            <a:extLst xmlns:a="http://schemas.openxmlformats.org/drawingml/2006/main">
              <a:ext uri="{FF2B5EF4-FFF2-40B4-BE49-F238E27FC236}">
                <a16:creationId xmlns:a16="http://schemas.microsoft.com/office/drawing/2014/main" id="{05D99D92-F725-4330-9246-58431AB8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243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6"/>
          </a:solidFill>
          <a:ln xmlns:a="http://schemas.openxmlformats.org/drawingml/2006/main" w="9525">
            <a:solidFill>
              <a:srgbClr val="D84A3A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84A3A"/>
                </a:solidFill>
                <a:latin typeface="Microsoft YaHei"/>
                <a:ea typeface="Microsoft YaHei"/>
                <a:cs typeface="Microsoft YaHei"/>
              </a:rPr>
              <a:t>REMOVE</a:t>
            </a:r>
          </a:p>
        </p:txBody>
      </p:sp>
      <p:sp>
        <p:nvSpPr>
          <p:cNvPr id="24" name="claim-C4-id">
            <a:extLst xmlns:a="http://schemas.openxmlformats.org/drawingml/2006/main">
              <a:ext uri="{FF2B5EF4-FFF2-40B4-BE49-F238E27FC236}">
                <a16:creationId xmlns:a16="http://schemas.microsoft.com/office/drawing/2014/main" id="{A5B59657-DDCC-410E-B0CD-99E51B4A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05350"/>
            <a:ext cx="590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152238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25" name="claim-C4-body">
            <a:extLst xmlns:a="http://schemas.openxmlformats.org/drawingml/2006/main">
              <a:ext uri="{FF2B5EF4-FFF2-40B4-BE49-F238E27FC236}">
                <a16:creationId xmlns:a16="http://schemas.microsoft.com/office/drawing/2014/main" id="{1CEE73B3-1A11-4219-9FB5-BCBDADD3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053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6"/>
          </a:solidFill>
          <a:ln xmlns:a="http://schemas.openxmlformats.org/drawingml/2006/main" w="9525">
            <a:solidFill>
              <a:srgbClr val="D84A3A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结论超出当前证据边界</a:t>
            </a:r>
          </a:p>
        </p:txBody>
      </p:sp>
      <p:sp>
        <p:nvSpPr>
          <p:cNvPr id="26" name="claim-C4-verify-line">
            <a:extLst xmlns:a="http://schemas.openxmlformats.org/drawingml/2006/main">
              <a:ext uri="{FF2B5EF4-FFF2-40B4-BE49-F238E27FC236}">
                <a16:creationId xmlns:a16="http://schemas.microsoft.com/office/drawing/2014/main" id="{A54671C8-4DA6-49AC-84B0-0D97B7AD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196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claim-C4-verify-head">
            <a:extLst xmlns:a="http://schemas.openxmlformats.org/drawingml/2006/main">
              <a:ext uri="{FF2B5EF4-FFF2-40B4-BE49-F238E27FC236}">
                <a16:creationId xmlns:a16="http://schemas.microsoft.com/office/drawing/2014/main" id="{BB80FC97-D930-4603-A54A-84940986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5775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8" name="claim-C4-state">
            <a:extLst xmlns:a="http://schemas.openxmlformats.org/drawingml/2006/main">
              <a:ext uri="{FF2B5EF4-FFF2-40B4-BE49-F238E27FC236}">
                <a16:creationId xmlns:a16="http://schemas.microsoft.com/office/drawing/2014/main" id="{77BB041C-511D-4D9C-B1B3-251B8886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6"/>
          </a:solidFill>
          <a:ln xmlns:a="http://schemas.openxmlformats.org/drawingml/2006/main" w="9525">
            <a:solidFill>
              <a:srgbClr val="D84A3A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84A3A"/>
                </a:solidFill>
                <a:latin typeface="Microsoft YaHei"/>
                <a:ea typeface="Microsoft YaHei"/>
                <a:cs typeface="Microsoft YaHei"/>
              </a:rPr>
              <a:t>REMOVE</a:t>
            </a:r>
          </a:p>
        </p:txBody>
      </p:sp>
      <p:sp>
        <p:nvSpPr>
          <p:cNvPr id="29" name="claim-final-state">
            <a:extLst xmlns:a="http://schemas.openxmlformats.org/drawingml/2006/main">
              <a:ext uri="{FF2B5EF4-FFF2-40B4-BE49-F238E27FC236}">
                <a16:creationId xmlns:a16="http://schemas.microsoft.com/office/drawing/2014/main" id="{6376D9E4-6399-4B19-80C2-3463A561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DA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  <p:txBody>
          <a:bodyPr xmlns:a="http://schemas.openxmlformats.org/drawingml/2006/main" lIns="133350" tIns="114300" rIns="13335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rPr>
              <a:t>PARTIAL_PASS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8B526C-B7EE-44F3-9B5F-0836B222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04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2 /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BAB716-BA36-4BDA-A3CF-2CE211CB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Claim retained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628D2F-4119-4E8A-81A6-8B809501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48150"/>
            <a:ext cx="180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rPr>
              <a:t>retry = 0</a:t>
            </a:r>
          </a:p>
          <a:p xmlns:a="http://schemas.openxmlformats.org/drawingml/2006/main">
            <a:pPr algn="ctr">
              <a:defRPr sz="1125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rPr>
              <a:t>unsupported leakage = 0</a:t>
            </a:r>
          </a:p>
        </p:txBody>
      </p:sp>
      <p:sp>
        <p:nvSpPr>
          <p:cNvPr id="33" name="claim-rule">
            <a:extLst xmlns:a="http://schemas.openxmlformats.org/drawingml/2006/main">
              <a:ext uri="{FF2B5EF4-FFF2-40B4-BE49-F238E27FC236}">
                <a16:creationId xmlns:a16="http://schemas.microsoft.com/office/drawing/2014/main" id="{EA33D183-E1F6-4A93-8A0A-73572F4F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87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BEC442-1470-4AA4-A101-A811D093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答案只由 retained Claims 重建；被删除内容不会出现在用户可见正文。</a:t>
            </a:r>
          </a:p>
        </p:txBody>
      </p:sp>
      <p:sp>
        <p:nvSpPr>
          <p:cNvPr id="35" name="footer-5-rule">
            <a:extLst xmlns:a="http://schemas.openxmlformats.org/drawingml/2006/main">
              <a:ext uri="{FF2B5EF4-FFF2-40B4-BE49-F238E27FC236}">
                <a16:creationId xmlns:a16="http://schemas.microsoft.com/office/drawing/2014/main" id="{692C4CBA-C02E-46B8-86F5-4920DE50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ooter-5-source">
            <a:extLst xmlns:a="http://schemas.openxmlformats.org/drawingml/2006/main">
              <a:ext uri="{FF2B5EF4-FFF2-40B4-BE49-F238E27FC236}">
                <a16:creationId xmlns:a16="http://schemas.microsoft.com/office/drawing/2014/main" id="{59AEF744-A137-4B3A-838F-F2AE362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来源：Stage 8.3 DEV02 脱敏 smoke｜仅证明过滤机制，不是整体质量结论</a:t>
            </a:r>
          </a:p>
        </p:txBody>
      </p:sp>
      <p:sp>
        <p:nvSpPr>
          <p:cNvPr id="37" name="footer-5-page">
            <a:extLst xmlns:a="http://schemas.openxmlformats.org/drawingml/2006/main">
              <a:ext uri="{FF2B5EF4-FFF2-40B4-BE49-F238E27FC236}">
                <a16:creationId xmlns:a16="http://schemas.microsoft.com/office/drawing/2014/main" id="{4F05F9FC-1413-4965-B2AC-161C8D6D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99002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53C98AB-80DF-45FA-9EC1-73C4BB58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A83A1D72-AEF0-4112-8966-172E0323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151996F3-B9F0-4355-96A0-39B972E4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PRODUCT PROOF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185F6BF-4FD4-4D93-8B96-D415452F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运行界面把模型、fallback、Verifier 与延迟全部暴露</a:t>
            </a:r>
          </a:p>
        </p:txBody>
      </p:sp>
      <p:sp>
        <p:nvSpPr>
          <p:cNvPr id="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9E8F03B7-32A8-4909-A053-15355B9E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667625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93df378fb4707"/>
          <a:stretch xmlns:a="http://schemas.openxmlformats.org/drawingml/2006/main"/>
        </p:blipFill>
        <p:spPr>
          <a:xfrm xmlns:a="http://schemas.openxmlformats.org/drawingml/2006/main">
            <a:off x="1305497" y="1771650"/>
            <a:ext cx="6199632" cy="4305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6C5CB-B722-49F8-B155-486D7D36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6690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A7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3A72F"/>
                </a:solidFill>
                <a:latin typeface="Aptos"/>
                <a:ea typeface="Aptos"/>
                <a:cs typeface="Aptos"/>
              </a:rPr>
              <a:t>PARTIAL_PASS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3B9CD-F6FB-43FF-B213-7BA56863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24100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Verifier 最终决策</a:t>
            </a:r>
          </a:p>
        </p:txBody>
      </p:sp>
      <p:sp>
        <p:nvSpPr>
          <p:cNvPr id="9" name="ui-rule-1">
            <a:extLst xmlns:a="http://schemas.openxmlformats.org/drawingml/2006/main">
              <a:ext uri="{FF2B5EF4-FFF2-40B4-BE49-F238E27FC236}">
                <a16:creationId xmlns:a16="http://schemas.microsoft.com/office/drawing/2014/main" id="{783AD782-1D95-4DC7-9AB4-011EC10A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036FA-90E3-4C9B-92CC-3798F8E8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384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HYBRID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89F6C-C9E9-45C0-9131-550EA676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真实检索模式</a:t>
            </a:r>
          </a:p>
        </p:txBody>
      </p:sp>
      <p:sp>
        <p:nvSpPr>
          <p:cNvPr id="12" name="ui-rule-2">
            <a:extLst xmlns:a="http://schemas.openxmlformats.org/drawingml/2006/main">
              <a:ext uri="{FF2B5EF4-FFF2-40B4-BE49-F238E27FC236}">
                <a16:creationId xmlns:a16="http://schemas.microsoft.com/office/drawing/2014/main" id="{AB9AEFD3-1C25-44B4-8C33-36C0D4D6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99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B5FEC-E7C5-4A05-901B-67BE6388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81425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61650-EFFB-44FA-9F70-556D6A54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0052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Claim coverage</a:t>
            </a:r>
          </a:p>
        </p:txBody>
      </p:sp>
      <p:sp>
        <p:nvSpPr>
          <p:cNvPr id="15" name="ui-rule-3">
            <a:extLst xmlns:a="http://schemas.openxmlformats.org/drawingml/2006/main">
              <a:ext uri="{FF2B5EF4-FFF2-40B4-BE49-F238E27FC236}">
                <a16:creationId xmlns:a16="http://schemas.microsoft.com/office/drawing/2014/main" id="{68970136-6521-4FEE-8307-FE391097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529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59341-1DCF-4D72-BA2A-DD0AD67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244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7,845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5DAF8-266B-445A-A7DC-9EA920F1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43500"/>
            <a:ext cx="266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端到端工程 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D7762-AC9B-44C2-BFE1-56097B76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19750"/>
            <a:ext cx="2714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界面同时展示 model / backend / fallback / structured output / 分阶段 trace。</a:t>
            </a:r>
          </a:p>
        </p:txBody>
      </p:sp>
      <p:sp>
        <p:nvSpPr>
          <p:cNvPr id="19" name="footer-6-rule">
            <a:extLst xmlns:a="http://schemas.openxmlformats.org/drawingml/2006/main">
              <a:ext uri="{FF2B5EF4-FFF2-40B4-BE49-F238E27FC236}">
                <a16:creationId xmlns:a16="http://schemas.microsoft.com/office/drawing/2014/main" id="{5332FEF1-8E3D-4303-BE67-7982C548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ooter-6-source">
            <a:extLst xmlns:a="http://schemas.openxmlformats.org/drawingml/2006/main">
              <a:ext uri="{FF2B5EF4-FFF2-40B4-BE49-F238E27FC236}">
                <a16:creationId xmlns:a16="http://schemas.microsoft.com/office/drawing/2014/main" id="{380BFCD1-30D2-4E92-98FF-F1D56A4D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来源：Stage 8.4 browser smoke｜截图用于工程验收，不作为答案质量指标</a:t>
            </a:r>
          </a:p>
        </p:txBody>
      </p:sp>
      <p:sp>
        <p:nvSpPr>
          <p:cNvPr id="21" name="footer-6-page">
            <a:extLst xmlns:a="http://schemas.openxmlformats.org/drawingml/2006/main">
              <a:ext uri="{FF2B5EF4-FFF2-40B4-BE49-F238E27FC236}">
                <a16:creationId xmlns:a16="http://schemas.microsoft.com/office/drawing/2014/main" id="{58E45352-48DF-459F-B6C1-3CB90423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02507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9D7D59C-C823-4F16-9266-D60DC5A2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933016AA-5F90-4F35-B026-FCF33A63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68D0E2A8-20B1-4D60-8D3B-2C596A53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EXPERIMENT GOVERNANCE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6142FD3-5F2F-4A3A-832B-CD260116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先冻结、再运行、后解盲，避免把测试集调成开发集</a:t>
            </a:r>
          </a:p>
        </p:txBody>
      </p:sp>
      <p:sp>
        <p:nvSpPr>
          <p:cNvPr id="5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937D21EE-E133-441F-92F3-1D9FD501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38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imeline-1-marker">
            <a:extLst xmlns:a="http://schemas.openxmlformats.org/drawingml/2006/main">
              <a:ext uri="{FF2B5EF4-FFF2-40B4-BE49-F238E27FC236}">
                <a16:creationId xmlns:a16="http://schemas.microsoft.com/office/drawing/2014/main" id="{92603C20-EE2F-418E-8DB1-D98CDB64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28575">
            <a:solidFill>
              <a:srgbClr val="F7F6F2"/>
            </a:solidFill>
            <a:prstDash val="solid"/>
          </a:ln>
        </p:spPr>
      </p:sp>
      <p:sp>
        <p:nvSpPr>
          <p:cNvPr id="7" name="timeline-1-stem">
            <a:extLst xmlns:a="http://schemas.openxmlformats.org/drawingml/2006/main">
              <a:ext uri="{FF2B5EF4-FFF2-40B4-BE49-F238E27FC236}">
                <a16:creationId xmlns:a16="http://schemas.microsoft.com/office/drawing/2014/main" id="{0F46E8D6-E966-461F-A790-7D8BC432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2BE95-6437-4EBF-8BD8-A97C3BFB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00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A5E32-032C-407B-A1AD-C36A5025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86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10 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F777C-E857-4606-BF21-82031C00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6479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只用于调试</a:t>
            </a:r>
          </a:p>
        </p:txBody>
      </p:sp>
      <p:sp>
        <p:nvSpPr>
          <p:cNvPr id="11" name="timeline-2-marker">
            <a:extLst xmlns:a="http://schemas.openxmlformats.org/drawingml/2006/main">
              <a:ext uri="{FF2B5EF4-FFF2-40B4-BE49-F238E27FC236}">
                <a16:creationId xmlns:a16="http://schemas.microsoft.com/office/drawing/2014/main" id="{E99DE818-5C12-4E34-870C-D82D1A52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90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28575">
            <a:solidFill>
              <a:srgbClr val="F7F6F2"/>
            </a:solidFill>
            <a:prstDash val="solid"/>
          </a:ln>
        </p:spPr>
      </p:sp>
      <p:sp>
        <p:nvSpPr>
          <p:cNvPr id="12" name="timeline-2-stem">
            <a:extLst xmlns:a="http://schemas.openxmlformats.org/drawingml/2006/main">
              <a:ext uri="{FF2B5EF4-FFF2-40B4-BE49-F238E27FC236}">
                <a16:creationId xmlns:a16="http://schemas.microsoft.com/office/drawing/2014/main" id="{353420A8-A8E5-463C-914B-822E6FD3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94A70-90B1-4FEE-A37B-9CDEC585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766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3A7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A72F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A49D5-F1C6-42AB-B1E1-E0976BC9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624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40 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6AE30-9843-4640-9EC5-CC64FB28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24375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冻结前一次回归</a:t>
            </a:r>
          </a:p>
        </p:txBody>
      </p:sp>
      <p:sp>
        <p:nvSpPr>
          <p:cNvPr id="16" name="timeline-3-marker">
            <a:extLst xmlns:a="http://schemas.openxmlformats.org/drawingml/2006/main">
              <a:ext uri="{FF2B5EF4-FFF2-40B4-BE49-F238E27FC236}">
                <a16:creationId xmlns:a16="http://schemas.microsoft.com/office/drawing/2014/main" id="{DF7A5963-B6DE-43BD-BC62-150910EF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90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28575">
            <a:solidFill>
              <a:srgbClr val="F7F6F2"/>
            </a:solidFill>
            <a:prstDash val="solid"/>
          </a:ln>
        </p:spPr>
      </p:sp>
      <p:sp>
        <p:nvSpPr>
          <p:cNvPr id="17" name="timeline-3-stem">
            <a:extLst xmlns:a="http://schemas.openxmlformats.org/drawingml/2006/main">
              <a:ext uri="{FF2B5EF4-FFF2-40B4-BE49-F238E27FC236}">
                <a16:creationId xmlns:a16="http://schemas.microsoft.com/office/drawing/2014/main" id="{63C5A910-10A3-49E8-B629-A5D35B62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575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3385B-2C6B-4402-B076-58F49B2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65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56C9"/>
                </a:solidFill>
                <a:latin typeface="Aptos"/>
                <a:ea typeface="Aptos"/>
                <a:cs typeface="Aptos"/>
              </a:rPr>
              <a:t>FREEZE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71826-0994-4C6A-8916-3DE4EB6A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86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e207cb9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04F1F-4C96-463B-9F99-95E17402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6479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Prompt / runtime / model</a:t>
            </a:r>
          </a:p>
        </p:txBody>
      </p:sp>
      <p:sp>
        <p:nvSpPr>
          <p:cNvPr id="21" name="timeline-4-marker">
            <a:extLst xmlns:a="http://schemas.openxmlformats.org/drawingml/2006/main">
              <a:ext uri="{FF2B5EF4-FFF2-40B4-BE49-F238E27FC236}">
                <a16:creationId xmlns:a16="http://schemas.microsoft.com/office/drawing/2014/main" id="{7A1A0276-E373-41CF-A9E6-FA320319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90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28575">
            <a:solidFill>
              <a:srgbClr val="F7F6F2"/>
            </a:solidFill>
            <a:prstDash val="solid"/>
          </a:ln>
        </p:spPr>
      </p:sp>
      <p:sp>
        <p:nvSpPr>
          <p:cNvPr id="22" name="timeline-4-stem">
            <a:extLst xmlns:a="http://schemas.openxmlformats.org/drawingml/2006/main">
              <a:ext uri="{FF2B5EF4-FFF2-40B4-BE49-F238E27FC236}">
                <a16:creationId xmlns:a16="http://schemas.microsoft.com/office/drawing/2014/main" id="{4A5AC2E0-3A20-42AA-803A-B20AEADC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0E7BE-62DC-45BA-AFB4-E3FBBC14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766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3487A-C478-4BC3-AD15-A2037F7E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624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23 ×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B7325-C31A-41EE-B15A-7B313989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24375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92 次调用，只运行一次</a:t>
            </a:r>
          </a:p>
        </p:txBody>
      </p:sp>
      <p:sp>
        <p:nvSpPr>
          <p:cNvPr id="26" name="timeline-5-marker">
            <a:extLst xmlns:a="http://schemas.openxmlformats.org/drawingml/2006/main">
              <a:ext uri="{FF2B5EF4-FFF2-40B4-BE49-F238E27FC236}">
                <a16:creationId xmlns:a16="http://schemas.microsoft.com/office/drawing/2014/main" id="{00B7800F-8409-41BB-80E4-BFBB8ECD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28575">
            <a:solidFill>
              <a:srgbClr val="F7F6F2"/>
            </a:solidFill>
            <a:prstDash val="solid"/>
          </a:ln>
        </p:spPr>
      </p:sp>
      <p:sp>
        <p:nvSpPr>
          <p:cNvPr id="27" name="timeline-5-stem">
            <a:extLst xmlns:a="http://schemas.openxmlformats.org/drawingml/2006/main">
              <a:ext uri="{FF2B5EF4-FFF2-40B4-BE49-F238E27FC236}">
                <a16:creationId xmlns:a16="http://schemas.microsoft.com/office/drawing/2014/main" id="{1A05D11C-F6B1-4A36-B947-BB288055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D31BD-0D7D-4A0F-9700-5541F69C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00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BLIND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2B1B30-420A-49F5-B97F-D4D02189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A / B / C / 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E76266-99E6-4478-992B-332DAFD3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479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92 行匿名评分</a:t>
            </a:r>
          </a:p>
        </p:txBody>
      </p:sp>
      <p:sp>
        <p:nvSpPr>
          <p:cNvPr id="31" name="timeline-6-marker">
            <a:extLst xmlns:a="http://schemas.openxmlformats.org/drawingml/2006/main">
              <a:ext uri="{FF2B5EF4-FFF2-40B4-BE49-F238E27FC236}">
                <a16:creationId xmlns:a16="http://schemas.microsoft.com/office/drawing/2014/main" id="{3B83DDBF-8E8E-4E2C-9339-500F23D2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90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28575">
            <a:solidFill>
              <a:srgbClr val="F7F6F2"/>
            </a:solidFill>
            <a:prstDash val="solid"/>
          </a:ln>
        </p:spPr>
      </p:sp>
      <p:sp>
        <p:nvSpPr>
          <p:cNvPr id="32" name="timeline-6-stem">
            <a:extLst xmlns:a="http://schemas.openxmlformats.org/drawingml/2006/main">
              <a:ext uri="{FF2B5EF4-FFF2-40B4-BE49-F238E27FC236}">
                <a16:creationId xmlns:a16="http://schemas.microsoft.com/office/drawing/2014/main" id="{0802AA86-97A1-4DC9-8447-E6E7D4DF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8615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140ADE-E146-4037-AB34-5C5B050C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8766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UNBLIND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C20A86-481B-4AC2-935D-EE96DD88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624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USER 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F91719-C05A-49E4-957B-A8C852F2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24375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确认后才读取 method key</a:t>
            </a:r>
          </a:p>
        </p:txBody>
      </p:sp>
      <p:sp>
        <p:nvSpPr>
          <p:cNvPr id="36" name="governance-lock">
            <a:extLst xmlns:a="http://schemas.openxmlformats.org/drawingml/2006/main">
              <a:ext uri="{FF2B5EF4-FFF2-40B4-BE49-F238E27FC236}">
                <a16:creationId xmlns:a16="http://schemas.microsoft.com/office/drawing/2014/main" id="{3C3EBC0E-C42A-4C2B-8259-8D3D98CF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38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15223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309DEF-AACC-427E-89FF-A85F0814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05475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final / pilot / extension 均已消费或冻结：不重跑、不覆盖、不按逐题结果调参</a:t>
            </a:r>
          </a:p>
        </p:txBody>
      </p:sp>
      <p:sp>
        <p:nvSpPr>
          <p:cNvPr id="38" name="footer-7-rule">
            <a:extLst xmlns:a="http://schemas.openxmlformats.org/drawingml/2006/main">
              <a:ext uri="{FF2B5EF4-FFF2-40B4-BE49-F238E27FC236}">
                <a16:creationId xmlns:a16="http://schemas.microsoft.com/office/drawing/2014/main" id="{87FA3E93-A25B-41FE-8E8B-48A11C03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footer-7-source">
            <a:extLst xmlns:a="http://schemas.openxmlformats.org/drawingml/2006/main">
              <a:ext uri="{FF2B5EF4-FFF2-40B4-BE49-F238E27FC236}">
                <a16:creationId xmlns:a16="http://schemas.microsoft.com/office/drawing/2014/main" id="{644B24D4-5B2F-4454-8739-99A82E73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来源：Stage 8.6-8.8 审计记录｜v2 effective execution status = completed_once</a:t>
            </a:r>
          </a:p>
        </p:txBody>
      </p:sp>
      <p:sp>
        <p:nvSpPr>
          <p:cNvPr id="40" name="footer-7-page">
            <a:extLst xmlns:a="http://schemas.openxmlformats.org/drawingml/2006/main">
              <a:ext uri="{FF2B5EF4-FFF2-40B4-BE49-F238E27FC236}">
                <a16:creationId xmlns:a16="http://schemas.microsoft.com/office/drawing/2014/main" id="{EE35F67B-8B34-40D0-BF78-3557DEA2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9835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65F343E-CA3A-4943-B3CD-6270D290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6A12031A-CDA9-4DF1-B25C-7760335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5E1626E2-D453-4CF0-BBB3-54A12288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V1 BASELINE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DEF6E79-032C-4F70-A5FC-B4885DFD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规则基线在固定 40 题上提供可靠保底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6C479-4B6B-4C06-A151-3D93F112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870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AD897-FA2D-4089-9893-D20B57DD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8600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/40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7B807-E671-47AF-81D3-8C74B71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pass / refuse 决策正确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9A37D-4D0D-4553-A55F-69303E5F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 Accuracy = 0.9750</a:t>
            </a:r>
          </a:p>
        </p:txBody>
      </p:sp>
      <p:sp>
        <p:nvSpPr>
          <p:cNvPr id="9" name="baseline-divider">
            <a:extLst xmlns:a="http://schemas.openxmlformats.org/drawingml/2006/main">
              <a:ext uri="{FF2B5EF4-FFF2-40B4-BE49-F238E27FC236}">
                <a16:creationId xmlns:a16="http://schemas.microsoft.com/office/drawing/2014/main" id="{F656737B-8DE5-4FD0-9A50-4C9F99B2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19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0FEA9-7169-40CC-BBFC-DCB82582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24075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4 /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642B0-0527-49F2-9B5C-20380D5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384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无答案题正确拒答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D817D-11AC-4018-B7F9-CBDCD4B5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992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样本较小，不能外推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80765-F91E-42A9-9FD0-EC5431FB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24075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3A72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E3A72F"/>
                </a:solidFill>
                <a:latin typeface="Aptos"/>
                <a:ea typeface="Aptos"/>
                <a:cs typeface="Aptos"/>
              </a:rPr>
              <a:t>1.48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A5520-818B-4580-A8E2-4883EB27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384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平均本地工作流耗时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A28CA-82FA-4583-8CC5-26AA4033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0992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离线规则热路径</a:t>
            </a:r>
          </a:p>
        </p:txBody>
      </p:sp>
      <p:sp>
        <p:nvSpPr>
          <p:cNvPr id="16" name="final-tick-1">
            <a:extLst xmlns:a="http://schemas.openxmlformats.org/drawingml/2006/main">
              <a:ext uri="{FF2B5EF4-FFF2-40B4-BE49-F238E27FC236}">
                <a16:creationId xmlns:a16="http://schemas.microsoft.com/office/drawing/2014/main" id="{33612D4F-B4C5-45BE-A6C4-9115F782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final-tick-2">
            <a:extLst xmlns:a="http://schemas.openxmlformats.org/drawingml/2006/main">
              <a:ext uri="{FF2B5EF4-FFF2-40B4-BE49-F238E27FC236}">
                <a16:creationId xmlns:a16="http://schemas.microsoft.com/office/drawing/2014/main" id="{7CEA6DB1-E371-4524-96BB-A29E511A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final-tick-3">
            <a:extLst xmlns:a="http://schemas.openxmlformats.org/drawingml/2006/main">
              <a:ext uri="{FF2B5EF4-FFF2-40B4-BE49-F238E27FC236}">
                <a16:creationId xmlns:a16="http://schemas.microsoft.com/office/drawing/2014/main" id="{CC59C6C4-7223-402C-A6B0-A0BDB51D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final-tick-4">
            <a:extLst xmlns:a="http://schemas.openxmlformats.org/drawingml/2006/main">
              <a:ext uri="{FF2B5EF4-FFF2-40B4-BE49-F238E27FC236}">
                <a16:creationId xmlns:a16="http://schemas.microsoft.com/office/drawing/2014/main" id="{BCD98312-D3FD-44FB-B928-9BC033AD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inal-tick-5">
            <a:extLst xmlns:a="http://schemas.openxmlformats.org/drawingml/2006/main">
              <a:ext uri="{FF2B5EF4-FFF2-40B4-BE49-F238E27FC236}">
                <a16:creationId xmlns:a16="http://schemas.microsoft.com/office/drawing/2014/main" id="{73332736-5181-4E5D-8341-D9764DDF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2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final-tick-6">
            <a:extLst xmlns:a="http://schemas.openxmlformats.org/drawingml/2006/main">
              <a:ext uri="{FF2B5EF4-FFF2-40B4-BE49-F238E27FC236}">
                <a16:creationId xmlns:a16="http://schemas.microsoft.com/office/drawing/2014/main" id="{B9CC5A19-C04B-40F6-8588-B248C502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final-tick-7">
            <a:extLst xmlns:a="http://schemas.openxmlformats.org/drawingml/2006/main">
              <a:ext uri="{FF2B5EF4-FFF2-40B4-BE49-F238E27FC236}">
                <a16:creationId xmlns:a16="http://schemas.microsoft.com/office/drawing/2014/main" id="{90201875-0EBA-480E-ACAB-D7A944CF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final-tick-8">
            <a:extLst xmlns:a="http://schemas.openxmlformats.org/drawingml/2006/main">
              <a:ext uri="{FF2B5EF4-FFF2-40B4-BE49-F238E27FC236}">
                <a16:creationId xmlns:a16="http://schemas.microsoft.com/office/drawing/2014/main" id="{0834F036-CC5A-46BD-BE96-56B3A8BB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inal-tick-9">
            <a:extLst xmlns:a="http://schemas.openxmlformats.org/drawingml/2006/main">
              <a:ext uri="{FF2B5EF4-FFF2-40B4-BE49-F238E27FC236}">
                <a16:creationId xmlns:a16="http://schemas.microsoft.com/office/drawing/2014/main" id="{2001E979-421B-4BEC-8CB6-63DA5F5F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inal-tick-10">
            <a:extLst xmlns:a="http://schemas.openxmlformats.org/drawingml/2006/main">
              <a:ext uri="{FF2B5EF4-FFF2-40B4-BE49-F238E27FC236}">
                <a16:creationId xmlns:a16="http://schemas.microsoft.com/office/drawing/2014/main" id="{18DABD55-447B-4ECF-9F82-6BE3A89C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72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final-tick-11">
            <a:extLst xmlns:a="http://schemas.openxmlformats.org/drawingml/2006/main">
              <a:ext uri="{FF2B5EF4-FFF2-40B4-BE49-F238E27FC236}">
                <a16:creationId xmlns:a16="http://schemas.microsoft.com/office/drawing/2014/main" id="{D474A8ED-9F3D-488A-B470-E9BE8F79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inal-tick-12">
            <a:extLst xmlns:a="http://schemas.openxmlformats.org/drawingml/2006/main">
              <a:ext uri="{FF2B5EF4-FFF2-40B4-BE49-F238E27FC236}">
                <a16:creationId xmlns:a16="http://schemas.microsoft.com/office/drawing/2014/main" id="{09509904-1632-46EF-89A4-02312E72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inal-tick-13">
            <a:extLst xmlns:a="http://schemas.openxmlformats.org/drawingml/2006/main">
              <a:ext uri="{FF2B5EF4-FFF2-40B4-BE49-F238E27FC236}">
                <a16:creationId xmlns:a16="http://schemas.microsoft.com/office/drawing/2014/main" id="{7C03A72E-0A94-4128-AE6C-E08E6135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inal-tick-14">
            <a:extLst xmlns:a="http://schemas.openxmlformats.org/drawingml/2006/main">
              <a:ext uri="{FF2B5EF4-FFF2-40B4-BE49-F238E27FC236}">
                <a16:creationId xmlns:a16="http://schemas.microsoft.com/office/drawing/2014/main" id="{1467DA15-90C2-4F08-A0D3-D4335ECF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04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inal-tick-15">
            <a:extLst xmlns:a="http://schemas.openxmlformats.org/drawingml/2006/main">
              <a:ext uri="{FF2B5EF4-FFF2-40B4-BE49-F238E27FC236}">
                <a16:creationId xmlns:a16="http://schemas.microsoft.com/office/drawing/2014/main" id="{4208EA01-C249-4F33-8E72-3D1A08E8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inal-tick-16">
            <a:extLst xmlns:a="http://schemas.openxmlformats.org/drawingml/2006/main">
              <a:ext uri="{FF2B5EF4-FFF2-40B4-BE49-F238E27FC236}">
                <a16:creationId xmlns:a16="http://schemas.microsoft.com/office/drawing/2014/main" id="{E3443367-D921-4169-BDF3-EF40002E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inal-tick-17">
            <a:extLst xmlns:a="http://schemas.openxmlformats.org/drawingml/2006/main">
              <a:ext uri="{FF2B5EF4-FFF2-40B4-BE49-F238E27FC236}">
                <a16:creationId xmlns:a16="http://schemas.microsoft.com/office/drawing/2014/main" id="{8EF9538B-E4F2-42D6-86BF-589D5D81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final-tick-18">
            <a:extLst xmlns:a="http://schemas.openxmlformats.org/drawingml/2006/main">
              <a:ext uri="{FF2B5EF4-FFF2-40B4-BE49-F238E27FC236}">
                <a16:creationId xmlns:a16="http://schemas.microsoft.com/office/drawing/2014/main" id="{2E519A3E-E942-4B38-BE35-DADF3F56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inal-tick-19">
            <a:extLst xmlns:a="http://schemas.openxmlformats.org/drawingml/2006/main">
              <a:ext uri="{FF2B5EF4-FFF2-40B4-BE49-F238E27FC236}">
                <a16:creationId xmlns:a16="http://schemas.microsoft.com/office/drawing/2014/main" id="{3A0FD3FE-1E74-485D-9C4D-05D5DA16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44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inal-tick-20">
            <a:extLst xmlns:a="http://schemas.openxmlformats.org/drawingml/2006/main">
              <a:ext uri="{FF2B5EF4-FFF2-40B4-BE49-F238E27FC236}">
                <a16:creationId xmlns:a16="http://schemas.microsoft.com/office/drawing/2014/main" id="{E9626A8F-C720-4821-ABAB-A2E9AE87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52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inal-tick-21">
            <a:extLst xmlns:a="http://schemas.openxmlformats.org/drawingml/2006/main">
              <a:ext uri="{FF2B5EF4-FFF2-40B4-BE49-F238E27FC236}">
                <a16:creationId xmlns:a16="http://schemas.microsoft.com/office/drawing/2014/main" id="{2C4FC1B5-64F6-4218-9E2E-11693D4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inal-tick-22">
            <a:extLst xmlns:a="http://schemas.openxmlformats.org/drawingml/2006/main">
              <a:ext uri="{FF2B5EF4-FFF2-40B4-BE49-F238E27FC236}">
                <a16:creationId xmlns:a16="http://schemas.microsoft.com/office/drawing/2014/main" id="{230E267E-9938-4922-B5DF-C4D19FD5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68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inal-tick-23">
            <a:extLst xmlns:a="http://schemas.openxmlformats.org/drawingml/2006/main">
              <a:ext uri="{FF2B5EF4-FFF2-40B4-BE49-F238E27FC236}">
                <a16:creationId xmlns:a16="http://schemas.microsoft.com/office/drawing/2014/main" id="{AE51F390-A86C-4202-BE69-A2D79FB8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final-tick-24">
            <a:extLst xmlns:a="http://schemas.openxmlformats.org/drawingml/2006/main">
              <a:ext uri="{FF2B5EF4-FFF2-40B4-BE49-F238E27FC236}">
                <a16:creationId xmlns:a16="http://schemas.microsoft.com/office/drawing/2014/main" id="{40EC43C3-9DF8-4F72-94EF-480A0F58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inal-tick-25">
            <a:extLst xmlns:a="http://schemas.openxmlformats.org/drawingml/2006/main">
              <a:ext uri="{FF2B5EF4-FFF2-40B4-BE49-F238E27FC236}">
                <a16:creationId xmlns:a16="http://schemas.microsoft.com/office/drawing/2014/main" id="{CC46500F-52B3-4339-8062-838C2D02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final-tick-26">
            <a:extLst xmlns:a="http://schemas.openxmlformats.org/drawingml/2006/main">
              <a:ext uri="{FF2B5EF4-FFF2-40B4-BE49-F238E27FC236}">
                <a16:creationId xmlns:a16="http://schemas.microsoft.com/office/drawing/2014/main" id="{C8AE47EB-92D2-496E-AD0F-AF772F24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final-tick-27">
            <a:extLst xmlns:a="http://schemas.openxmlformats.org/drawingml/2006/main">
              <a:ext uri="{FF2B5EF4-FFF2-40B4-BE49-F238E27FC236}">
                <a16:creationId xmlns:a16="http://schemas.microsoft.com/office/drawing/2014/main" id="{EA746CDA-D348-4A4D-B4EE-DAAA4616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inal-tick-28">
            <a:extLst xmlns:a="http://schemas.openxmlformats.org/drawingml/2006/main">
              <a:ext uri="{FF2B5EF4-FFF2-40B4-BE49-F238E27FC236}">
                <a16:creationId xmlns:a16="http://schemas.microsoft.com/office/drawing/2014/main" id="{D08BF7B4-A769-455D-98BC-5A8722E8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16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inal-tick-29">
            <a:extLst xmlns:a="http://schemas.openxmlformats.org/drawingml/2006/main">
              <a:ext uri="{FF2B5EF4-FFF2-40B4-BE49-F238E27FC236}">
                <a16:creationId xmlns:a16="http://schemas.microsoft.com/office/drawing/2014/main" id="{3D143C5B-FBC3-4345-AD66-29EFBF29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24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final-tick-30">
            <a:extLst xmlns:a="http://schemas.openxmlformats.org/drawingml/2006/main">
              <a:ext uri="{FF2B5EF4-FFF2-40B4-BE49-F238E27FC236}">
                <a16:creationId xmlns:a16="http://schemas.microsoft.com/office/drawing/2014/main" id="{4BF88E11-A856-4A3F-8453-B5B81011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final-tick-31">
            <a:extLst xmlns:a="http://schemas.openxmlformats.org/drawingml/2006/main">
              <a:ext uri="{FF2B5EF4-FFF2-40B4-BE49-F238E27FC236}">
                <a16:creationId xmlns:a16="http://schemas.microsoft.com/office/drawing/2014/main" id="{06C2D973-5B75-4C77-840C-D58C3B5F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final-tick-32">
            <a:extLst xmlns:a="http://schemas.openxmlformats.org/drawingml/2006/main">
              <a:ext uri="{FF2B5EF4-FFF2-40B4-BE49-F238E27FC236}">
                <a16:creationId xmlns:a16="http://schemas.microsoft.com/office/drawing/2014/main" id="{36329147-6173-4C6E-8FC2-9B9B66FB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48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final-tick-33">
            <a:extLst xmlns:a="http://schemas.openxmlformats.org/drawingml/2006/main">
              <a:ext uri="{FF2B5EF4-FFF2-40B4-BE49-F238E27FC236}">
                <a16:creationId xmlns:a16="http://schemas.microsoft.com/office/drawing/2014/main" id="{A66D2D80-D74D-4B6E-ACA6-6F78873B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final-tick-34">
            <a:extLst xmlns:a="http://schemas.openxmlformats.org/drawingml/2006/main">
              <a:ext uri="{FF2B5EF4-FFF2-40B4-BE49-F238E27FC236}">
                <a16:creationId xmlns:a16="http://schemas.microsoft.com/office/drawing/2014/main" id="{C76DF9D2-3902-4AAF-BBAB-11A9C2A7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final-tick-35">
            <a:extLst xmlns:a="http://schemas.openxmlformats.org/drawingml/2006/main">
              <a:ext uri="{FF2B5EF4-FFF2-40B4-BE49-F238E27FC236}">
                <a16:creationId xmlns:a16="http://schemas.microsoft.com/office/drawing/2014/main" id="{A2B460BE-C6EC-4733-B6EA-A1469904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final-tick-36">
            <a:extLst xmlns:a="http://schemas.openxmlformats.org/drawingml/2006/main">
              <a:ext uri="{FF2B5EF4-FFF2-40B4-BE49-F238E27FC236}">
                <a16:creationId xmlns:a16="http://schemas.microsoft.com/office/drawing/2014/main" id="{AEFBA227-73D6-4727-AA8A-A7CC8B97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final-tick-37">
            <a:extLst xmlns:a="http://schemas.openxmlformats.org/drawingml/2006/main">
              <a:ext uri="{FF2B5EF4-FFF2-40B4-BE49-F238E27FC236}">
                <a16:creationId xmlns:a16="http://schemas.microsoft.com/office/drawing/2014/main" id="{ED1F12F3-398E-4964-B022-8C8027BE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888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final-tick-38">
            <a:extLst xmlns:a="http://schemas.openxmlformats.org/drawingml/2006/main">
              <a:ext uri="{FF2B5EF4-FFF2-40B4-BE49-F238E27FC236}">
                <a16:creationId xmlns:a16="http://schemas.microsoft.com/office/drawing/2014/main" id="{AACB3A74-298A-4A07-8487-560E36D8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96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final-tick-39">
            <a:extLst xmlns:a="http://schemas.openxmlformats.org/drawingml/2006/main">
              <a:ext uri="{FF2B5EF4-FFF2-40B4-BE49-F238E27FC236}">
                <a16:creationId xmlns:a16="http://schemas.microsoft.com/office/drawing/2014/main" id="{D1C2C25A-BA74-429E-ABAA-1478C180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5529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final-tick-40">
            <a:extLst xmlns:a="http://schemas.openxmlformats.org/drawingml/2006/main">
              <a:ext uri="{FF2B5EF4-FFF2-40B4-BE49-F238E27FC236}">
                <a16:creationId xmlns:a16="http://schemas.microsoft.com/office/drawing/2014/main" id="{A99D0233-885F-4F2A-BDE1-0DA12D4A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6120" y="4552950"/>
            <a:ext cx="19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03A11C-207B-41C8-9AE7-F6F21522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387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rPr>
              <a:t>唯一错误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AF8408-695C-4550-942E-38D4A0F5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05425"/>
            <a:ext cx="384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T-DF-01：AdaBoost 定义题被保守拒答</a:t>
            </a:r>
          </a:p>
        </p:txBody>
      </p:sp>
      <p:sp>
        <p:nvSpPr>
          <p:cNvPr id="58" name="baseline-note-rule">
            <a:extLst xmlns:a="http://schemas.openxmlformats.org/drawingml/2006/main">
              <a:ext uri="{FF2B5EF4-FFF2-40B4-BE49-F238E27FC236}">
                <a16:creationId xmlns:a16="http://schemas.microsoft.com/office/drawing/2014/main" id="{A1DDA963-62C2-4073-8A28-EBD4EE4E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CBDC92-FD49-46D9-99E0-EE5D613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这组 final 只运行一次并保持原结果，不用于继续调参。</a:t>
            </a:r>
          </a:p>
        </p:txBody>
      </p:sp>
      <p:sp>
        <p:nvSpPr>
          <p:cNvPr id="60" name="footer-8-rule">
            <a:extLst xmlns:a="http://schemas.openxmlformats.org/drawingml/2006/main">
              <a:ext uri="{FF2B5EF4-FFF2-40B4-BE49-F238E27FC236}">
                <a16:creationId xmlns:a16="http://schemas.microsoft.com/office/drawing/2014/main" id="{921429A1-CD43-4E27-8F61-6227A562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footer-8-source">
            <a:extLst xmlns:a="http://schemas.openxmlformats.org/drawingml/2006/main">
              <a:ext uri="{FF2B5EF4-FFF2-40B4-BE49-F238E27FC236}">
                <a16:creationId xmlns:a16="http://schemas.microsoft.com/office/drawing/2014/main" id="{1FC2A3CE-08E5-44B4-A411-0472A6F9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来源：v1.0 final 冻结结果｜40 题；规则生成器，不包含 LLM</a:t>
            </a:r>
          </a:p>
        </p:txBody>
      </p:sp>
      <p:sp>
        <p:nvSpPr>
          <p:cNvPr id="62" name="footer-8-page">
            <a:extLst xmlns:a="http://schemas.openxmlformats.org/drawingml/2006/main">
              <a:ext uri="{FF2B5EF4-FFF2-40B4-BE49-F238E27FC236}">
                <a16:creationId xmlns:a16="http://schemas.microsoft.com/office/drawing/2014/main" id="{A5867A27-12AB-4985-B629-6667B906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908937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76C118E-6388-4360-A111-8D72E26D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AE5D7D4C-E2EC-49A6-9DD1-51D076E3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27829A00-5D82-472D-A0AF-615D7A36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USER-CONFIRMED QUALITY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C18C87E-F593-4524-AA5D-5A34B12A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扩展实验没有单一赢家：正确性与忠实度彼此牵制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8C90D-045B-4F09-A200-04032407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859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Correctness</a:t>
            </a:r>
          </a:p>
        </p:txBody>
      </p:sp>
      <p:sp>
        <p:nvSpPr>
          <p:cNvPr id="6" name="legend-correctness">
            <a:extLst xmlns:a="http://schemas.openxmlformats.org/drawingml/2006/main">
              <a:ext uri="{FF2B5EF4-FFF2-40B4-BE49-F238E27FC236}">
                <a16:creationId xmlns:a16="http://schemas.microsoft.com/office/drawing/2014/main" id="{26B22150-FC81-4D03-B26D-22067234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62125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C4150-73C4-466F-B293-33701C82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859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Faithfulness</a:t>
            </a:r>
          </a:p>
        </p:txBody>
      </p:sp>
      <p:sp>
        <p:nvSpPr>
          <p:cNvPr id="8" name="legend-faithfulness">
            <a:extLst xmlns:a="http://schemas.openxmlformats.org/drawingml/2006/main">
              <a:ext uri="{FF2B5EF4-FFF2-40B4-BE49-F238E27FC236}">
                <a16:creationId xmlns:a16="http://schemas.microsoft.com/office/drawing/2014/main" id="{155A8FF8-7F75-41B0-93C2-EDA82E1C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62125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quality-grid-0">
            <a:extLst xmlns:a="http://schemas.openxmlformats.org/drawingml/2006/main">
              <a:ext uri="{FF2B5EF4-FFF2-40B4-BE49-F238E27FC236}">
                <a16:creationId xmlns:a16="http://schemas.microsoft.com/office/drawing/2014/main" id="{D13C49E3-ECF5-4FB4-9D9B-EA5DC39B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67300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DE716-74DF-4332-89AA-C605C567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0.0</a:t>
            </a:r>
          </a:p>
        </p:txBody>
      </p:sp>
      <p:sp>
        <p:nvSpPr>
          <p:cNvPr id="11" name="quality-grid-1">
            <a:extLst xmlns:a="http://schemas.openxmlformats.org/drawingml/2006/main">
              <a:ext uri="{FF2B5EF4-FFF2-40B4-BE49-F238E27FC236}">
                <a16:creationId xmlns:a16="http://schemas.microsoft.com/office/drawing/2014/main" id="{FE7DDD18-2E63-4937-8DE4-78BDCE43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90925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E27C5-9F5A-4ABC-97C3-EF0F961E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0.5</a:t>
            </a:r>
          </a:p>
        </p:txBody>
      </p:sp>
      <p:sp>
        <p:nvSpPr>
          <p:cNvPr id="13" name="quality-grid-2">
            <a:extLst xmlns:a="http://schemas.openxmlformats.org/drawingml/2006/main">
              <a:ext uri="{FF2B5EF4-FFF2-40B4-BE49-F238E27FC236}">
                <a16:creationId xmlns:a16="http://schemas.microsoft.com/office/drawing/2014/main" id="{BDD97AC1-A0D7-4DF8-A4AE-D4C88CCA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14550"/>
            <a:ext cx="985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CFAA3-8E86-4A21-9B96-DB6D116D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15" name="quality-0-correctness">
            <a:extLst xmlns:a="http://schemas.openxmlformats.org/drawingml/2006/main">
              <a:ext uri="{FF2B5EF4-FFF2-40B4-BE49-F238E27FC236}">
                <a16:creationId xmlns:a16="http://schemas.microsoft.com/office/drawing/2014/main" id="{1E63A7DF-5E04-4E50-A68B-2077C8D0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334036"/>
            <a:ext cx="457200" cy="1733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quality-0-faithfulness">
            <a:extLst xmlns:a="http://schemas.openxmlformats.org/drawingml/2006/main">
              <a:ext uri="{FF2B5EF4-FFF2-40B4-BE49-F238E27FC236}">
                <a16:creationId xmlns:a16="http://schemas.microsoft.com/office/drawing/2014/main" id="{195F4F4A-E2D0-4120-B860-0E6309A8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65927"/>
            <a:ext cx="457200" cy="2601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163D7-60A0-407A-BDDE-4B2115D9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76861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0.59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871AF-7DF6-4D78-8BBE-FE0E0D91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208752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572CA-1791-4BDC-A6BF-85436417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2197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Rule</a:t>
            </a:r>
          </a:p>
          <a:p xmlns:a="http://schemas.openxmlformats.org/drawingml/2006/main">
            <a:pPr algn="ctr">
              <a:defRPr sz="10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0E2CC-9E98-49EF-8C81-E28299FA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7150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Faithfulness n=21</a:t>
            </a:r>
          </a:p>
        </p:txBody>
      </p:sp>
      <p:sp>
        <p:nvSpPr>
          <p:cNvPr id="21" name="quality-1-correctness">
            <a:extLst xmlns:a="http://schemas.openxmlformats.org/drawingml/2006/main">
              <a:ext uri="{FF2B5EF4-FFF2-40B4-BE49-F238E27FC236}">
                <a16:creationId xmlns:a16="http://schemas.microsoft.com/office/drawing/2014/main" id="{828831A5-BCFD-4653-9A56-F507ADEB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68778"/>
            <a:ext cx="457200" cy="8985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quality-1-faithfulness">
            <a:extLst xmlns:a="http://schemas.openxmlformats.org/drawingml/2006/main">
              <a:ext uri="{FF2B5EF4-FFF2-40B4-BE49-F238E27FC236}">
                <a16:creationId xmlns:a16="http://schemas.microsoft.com/office/drawing/2014/main" id="{B33228C2-8EE1-4A22-BA68-785EE9C5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14550"/>
            <a:ext cx="457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178D8-B0E8-4D4D-8A24-553CE576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11603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0.30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643294-A1D8-4813-93E9-15262DBF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8573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E1095-FD72-4444-9114-F75F54F8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2197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LLM Strict</a:t>
            </a:r>
          </a:p>
          <a:p xmlns:a="http://schemas.openxmlformats.org/drawingml/2006/main">
            <a:pPr algn="ctr">
              <a:defRPr sz="10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F0A04-F339-4D5A-B40D-7D8FCF23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7150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Faithfulness n=3</a:t>
            </a:r>
          </a:p>
        </p:txBody>
      </p:sp>
      <p:sp>
        <p:nvSpPr>
          <p:cNvPr id="27" name="quality-2-correctness">
            <a:extLst xmlns:a="http://schemas.openxmlformats.org/drawingml/2006/main">
              <a:ext uri="{FF2B5EF4-FFF2-40B4-BE49-F238E27FC236}">
                <a16:creationId xmlns:a16="http://schemas.microsoft.com/office/drawing/2014/main" id="{63F0FFB1-7443-4EE7-BEE2-9DBF7C25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56478"/>
            <a:ext cx="457200" cy="2310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quality-2-faithfulness">
            <a:extLst xmlns:a="http://schemas.openxmlformats.org/drawingml/2006/main">
              <a:ext uri="{FF2B5EF4-FFF2-40B4-BE49-F238E27FC236}">
                <a16:creationId xmlns:a16="http://schemas.microsoft.com/office/drawing/2014/main" id="{11CE15BF-EBB7-4AC4-8623-EDBD28CD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51360"/>
            <a:ext cx="457200" cy="2415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0F805-71CF-48A1-A3A0-32DA07AA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499303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0.78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93AE10-9363-4235-8D6D-D8BEC59D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9418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0.82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47D2D1-B3B5-41C5-9131-838DE380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2197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LLM No Verifier</a:t>
            </a:r>
          </a:p>
          <a:p xmlns:a="http://schemas.openxmlformats.org/drawingml/2006/main">
            <a:pPr algn="ctr">
              <a:defRPr sz="10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60F567-1136-44B5-A8C9-D3AB0FC0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7150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Faithfulness n=22</a:t>
            </a:r>
          </a:p>
        </p:txBody>
      </p:sp>
      <p:sp>
        <p:nvSpPr>
          <p:cNvPr id="33" name="quality-3-correctness">
            <a:extLst xmlns:a="http://schemas.openxmlformats.org/drawingml/2006/main">
              <a:ext uri="{FF2B5EF4-FFF2-40B4-BE49-F238E27FC236}">
                <a16:creationId xmlns:a16="http://schemas.microsoft.com/office/drawing/2014/main" id="{7B9F14A8-E07D-4C40-8E72-E2743A1C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26850"/>
            <a:ext cx="457200" cy="154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quality-3-faithfulness">
            <a:extLst xmlns:a="http://schemas.openxmlformats.org/drawingml/2006/main">
              <a:ext uri="{FF2B5EF4-FFF2-40B4-BE49-F238E27FC236}">
                <a16:creationId xmlns:a16="http://schemas.microsoft.com/office/drawing/2014/main" id="{1998FA2C-088C-4F5B-8911-F4309DE3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299097"/>
            <a:ext cx="457200" cy="27682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C6AEF-85E5-4E11-9016-7D1CAB8D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2696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0.52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2D4201-6FF3-4D85-AC88-3AAD894F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41922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0.94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075EAE-51DF-4C0E-A8A6-23286840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2197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LLM Partial-pass</a:t>
            </a:r>
          </a:p>
          <a:p xmlns:a="http://schemas.openxmlformats.org/drawingml/2006/main">
            <a:pPr algn="ctr">
              <a:defRPr sz="1050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6999B5-8A55-42C4-A181-91CB32B1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7150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Faithfulness n=16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64B299-967D-4CFD-9BB7-6E158D4C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105525"/>
            <a:ext cx="985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No Verifier 正确性最高，但伴随 6/22 hallucination；Strict 忠实度 1.00 只来自 3 条实质答案。</a:t>
            </a:r>
          </a:p>
        </p:txBody>
      </p:sp>
      <p:sp>
        <p:nvSpPr>
          <p:cNvPr id="40" name="footer-9-rule">
            <a:extLst xmlns:a="http://schemas.openxmlformats.org/drawingml/2006/main">
              <a:ext uri="{FF2B5EF4-FFF2-40B4-BE49-F238E27FC236}">
                <a16:creationId xmlns:a16="http://schemas.microsoft.com/office/drawing/2014/main" id="{B7F73A87-3836-4291-9DD0-21634942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footer-9-source">
            <a:extLst xmlns:a="http://schemas.openxmlformats.org/drawingml/2006/main">
              <a:ext uri="{FF2B5EF4-FFF2-40B4-BE49-F238E27FC236}">
                <a16:creationId xmlns:a16="http://schemas.microsoft.com/office/drawing/2014/main" id="{590855B0-D016-45D7-9507-D4F13B59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来源：23 题 extension 用户确认评分｜单一用户确认，不是独立双人标注</a:t>
            </a:r>
          </a:p>
        </p:txBody>
      </p:sp>
      <p:sp>
        <p:nvSpPr>
          <p:cNvPr id="42" name="footer-9-page">
            <a:extLst xmlns:a="http://schemas.openxmlformats.org/drawingml/2006/main">
              <a:ext uri="{FF2B5EF4-FFF2-40B4-BE49-F238E27FC236}">
                <a16:creationId xmlns:a16="http://schemas.microsoft.com/office/drawing/2014/main" id="{B510A496-F02C-402A-972E-6F3658B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39628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4D70427-825E-488F-AB68-F1466684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ED54264A-D991-4C1C-B841-F7935776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71C83AB1-108C-4E5C-85EF-D146E622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SAFETY / COVERAGE TRADE-OFF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BB09187-22E9-408B-9804-CA2CA3C0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Verifier 压低观察幻觉，但 Partial-pass 仍付出覆盖代价</a:t>
            </a:r>
          </a:p>
        </p:txBody>
      </p:sp>
      <p:sp>
        <p:nvSpPr>
          <p:cNvPr id="5" name="safe-zone">
            <a:extLst xmlns:a="http://schemas.openxmlformats.org/drawingml/2006/main">
              <a:ext uri="{FF2B5EF4-FFF2-40B4-BE49-F238E27FC236}">
                <a16:creationId xmlns:a16="http://schemas.microsoft.com/office/drawing/2014/main" id="{70A9B098-7492-4A9F-A0EC-EE5F5803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76700"/>
            <a:ext cx="3476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D8D3E-2CF5-4390-9701-20B8AF0B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719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rPr>
              <a:t>较低风险区</a:t>
            </a:r>
          </a:p>
        </p:txBody>
      </p:sp>
      <p:sp>
        <p:nvSpPr>
          <p:cNvPr id="7" name="scatter-x">
            <a:extLst xmlns:a="http://schemas.openxmlformats.org/drawingml/2006/main">
              <a:ext uri="{FF2B5EF4-FFF2-40B4-BE49-F238E27FC236}">
                <a16:creationId xmlns:a16="http://schemas.microsoft.com/office/drawing/2014/main" id="{B9BEB0A6-9A67-4E6E-A414-043E9D12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catter-y">
            <a:extLst xmlns:a="http://schemas.openxmlformats.org/drawingml/2006/main">
              <a:ext uri="{FF2B5EF4-FFF2-40B4-BE49-F238E27FC236}">
                <a16:creationId xmlns:a16="http://schemas.microsoft.com/office/drawing/2014/main" id="{C0BB7911-48F6-4F75-8EB9-808495A6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19325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catter-x-tick-0">
            <a:extLst xmlns:a="http://schemas.openxmlformats.org/drawingml/2006/main">
              <a:ext uri="{FF2B5EF4-FFF2-40B4-BE49-F238E27FC236}">
                <a16:creationId xmlns:a16="http://schemas.microsoft.com/office/drawing/2014/main" id="{0E9D36C5-A7A3-4F21-8B73-C2614009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9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84DD4-2A60-4618-A1FC-6C8520D2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34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0.0</a:t>
            </a:r>
          </a:p>
        </p:txBody>
      </p:sp>
      <p:sp>
        <p:nvSpPr>
          <p:cNvPr id="11" name="scatter-x-tick-1">
            <a:extLst xmlns:a="http://schemas.openxmlformats.org/drawingml/2006/main">
              <a:ext uri="{FF2B5EF4-FFF2-40B4-BE49-F238E27FC236}">
                <a16:creationId xmlns:a16="http://schemas.microsoft.com/office/drawing/2014/main" id="{44452296-C2C4-4A64-ABD2-BD937AF9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250" y="5219700"/>
            <a:ext cx="9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399F7-0245-4372-8C73-AF905EBB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125" y="5334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0.3</a:t>
            </a:r>
          </a:p>
        </p:txBody>
      </p:sp>
      <p:sp>
        <p:nvSpPr>
          <p:cNvPr id="13" name="scatter-x-tick-2">
            <a:extLst xmlns:a="http://schemas.openxmlformats.org/drawingml/2006/main">
              <a:ext uri="{FF2B5EF4-FFF2-40B4-BE49-F238E27FC236}">
                <a16:creationId xmlns:a16="http://schemas.microsoft.com/office/drawing/2014/main" id="{93CE567B-A120-4287-80FD-8414637E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250" y="5219700"/>
            <a:ext cx="9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98616-BD08-4FAD-986F-8394E654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25" y="5334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15" name="scatter-x-tick-3">
            <a:extLst xmlns:a="http://schemas.openxmlformats.org/drawingml/2006/main">
              <a:ext uri="{FF2B5EF4-FFF2-40B4-BE49-F238E27FC236}">
                <a16:creationId xmlns:a16="http://schemas.microsoft.com/office/drawing/2014/main" id="{3D77C184-70D5-4547-BBE2-4E643BBC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219700"/>
            <a:ext cx="95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8960F-4768-4F3B-A02C-5BB329B5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3340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0.9</a:t>
            </a:r>
          </a:p>
        </p:txBody>
      </p:sp>
      <p:sp>
        <p:nvSpPr>
          <p:cNvPr id="17" name="scatter-y-grid-0">
            <a:extLst xmlns:a="http://schemas.openxmlformats.org/drawingml/2006/main">
              <a:ext uri="{FF2B5EF4-FFF2-40B4-BE49-F238E27FC236}">
                <a16:creationId xmlns:a16="http://schemas.microsoft.com/office/drawing/2014/main" id="{9EB18A28-22BD-4172-B900-69AABD4E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AAADE-CB45-4D4B-838A-A626E22C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149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0.0</a:t>
            </a:r>
          </a:p>
        </p:txBody>
      </p:sp>
      <p:sp>
        <p:nvSpPr>
          <p:cNvPr id="19" name="scatter-y-grid-1">
            <a:extLst xmlns:a="http://schemas.openxmlformats.org/drawingml/2006/main">
              <a:ext uri="{FF2B5EF4-FFF2-40B4-BE49-F238E27FC236}">
                <a16:creationId xmlns:a16="http://schemas.microsoft.com/office/drawing/2014/main" id="{D761DB15-099F-4B12-A672-D93E26C8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95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2C482-BC78-4EF6-A49E-FF04D730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14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0.1</a:t>
            </a:r>
          </a:p>
        </p:txBody>
      </p:sp>
      <p:sp>
        <p:nvSpPr>
          <p:cNvPr id="21" name="scatter-y-grid-2">
            <a:extLst xmlns:a="http://schemas.openxmlformats.org/drawingml/2006/main">
              <a:ext uri="{FF2B5EF4-FFF2-40B4-BE49-F238E27FC236}">
                <a16:creationId xmlns:a16="http://schemas.microsoft.com/office/drawing/2014/main" id="{19172E43-ECB8-4A5D-83FC-5FB95938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194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FF348-E98E-409C-B007-6AE38C24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146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0.2</a:t>
            </a:r>
          </a:p>
        </p:txBody>
      </p:sp>
      <p:sp>
        <p:nvSpPr>
          <p:cNvPr id="23" name="scatter-y-grid-3">
            <a:extLst xmlns:a="http://schemas.openxmlformats.org/drawingml/2006/main">
              <a:ext uri="{FF2B5EF4-FFF2-40B4-BE49-F238E27FC236}">
                <a16:creationId xmlns:a16="http://schemas.microsoft.com/office/drawing/2014/main" id="{BFE4D65A-B538-4963-BE78-EDDB606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193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61EE8-F993-4480-8112-0DF93766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145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0.3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072A8-9959-4C47-AED2-5B718A87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288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观察 hallucination（拒答不计入分母）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CF2FC-4BB3-4253-B179-F6DF410F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657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answerable over-refusal</a:t>
            </a:r>
          </a:p>
        </p:txBody>
      </p:sp>
      <p:sp>
        <p:nvSpPr>
          <p:cNvPr id="27" name="scatter-point-0">
            <a:extLst xmlns:a="http://schemas.openxmlformats.org/drawingml/2006/main">
              <a:ext uri="{FF2B5EF4-FFF2-40B4-BE49-F238E27FC236}">
                <a16:creationId xmlns:a16="http://schemas.microsoft.com/office/drawing/2014/main" id="{2202A0AB-98F3-4439-AEAB-8197FE55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133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28575">
            <a:solidFill>
              <a:srgbClr val="F7F6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EF113E-A7DC-4AFA-BDDA-54688760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Rule 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FE1D66-4935-4779-86BC-E6F9720E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67275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 0/19 · H 0/21</a:t>
            </a:r>
          </a:p>
        </p:txBody>
      </p:sp>
      <p:sp>
        <p:nvSpPr>
          <p:cNvPr id="30" name="scatter-point-1">
            <a:extLst xmlns:a="http://schemas.openxmlformats.org/drawingml/2006/main">
              <a:ext uri="{FF2B5EF4-FFF2-40B4-BE49-F238E27FC236}">
                <a16:creationId xmlns:a16="http://schemas.microsoft.com/office/drawing/2014/main" id="{322E886D-E9E4-40F9-AE0F-967EC5CD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807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28575">
            <a:solidFill>
              <a:srgbClr val="F7F6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2EEAA8-C3B4-4647-AD15-7E0EF3E8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67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LLM Strict v2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5E3CD6-B211-42E9-AC34-59390DF8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053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 16/19 · H 0/3</a:t>
            </a:r>
          </a:p>
        </p:txBody>
      </p:sp>
      <p:sp>
        <p:nvSpPr>
          <p:cNvPr id="33" name="scatter-point-2">
            <a:extLst xmlns:a="http://schemas.openxmlformats.org/drawingml/2006/main">
              <a:ext uri="{FF2B5EF4-FFF2-40B4-BE49-F238E27FC236}">
                <a16:creationId xmlns:a16="http://schemas.microsoft.com/office/drawing/2014/main" id="{6A068824-73A8-40A3-B00D-C3AB939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133" y="2396836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28575">
            <a:solidFill>
              <a:srgbClr val="F7F6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B78CF0-100E-40EF-A1B3-A250A06D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336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LLM No Verifier v2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AD019C-E60E-4EF3-935A-DA5C236C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717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 0/19 · H 6/22</a:t>
            </a:r>
          </a:p>
        </p:txBody>
      </p:sp>
      <p:sp>
        <p:nvSpPr>
          <p:cNvPr id="36" name="scatter-point-3">
            <a:extLst xmlns:a="http://schemas.openxmlformats.org/drawingml/2006/main">
              <a:ext uri="{FF2B5EF4-FFF2-40B4-BE49-F238E27FC236}">
                <a16:creationId xmlns:a16="http://schemas.microsoft.com/office/drawing/2014/main" id="{9F365F96-0288-4AF3-984A-80409C7A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877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28575">
            <a:solidFill>
              <a:srgbClr val="F7F6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F4DB0A-D10B-4A09-9F86-9775F450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LLM Partial-pass v2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AFA3E4-D53C-48F5-BBF6-D566C8F4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1666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 5/19 · H 0/16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2D97D0-8253-4695-8C6E-1A828961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3885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O = over-refusal；H = hallucination。不同方法分母不同，只作描述性权衡。</a:t>
            </a:r>
          </a:p>
        </p:txBody>
      </p:sp>
      <p:sp>
        <p:nvSpPr>
          <p:cNvPr id="40" name="footer-10-rule">
            <a:extLst xmlns:a="http://schemas.openxmlformats.org/drawingml/2006/main">
              <a:ext uri="{FF2B5EF4-FFF2-40B4-BE49-F238E27FC236}">
                <a16:creationId xmlns:a16="http://schemas.microsoft.com/office/drawing/2014/main" id="{1B50DB1E-D96F-4329-9867-D96F3D46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footer-10-source">
            <a:extLst xmlns:a="http://schemas.openxmlformats.org/drawingml/2006/main">
              <a:ext uri="{FF2B5EF4-FFF2-40B4-BE49-F238E27FC236}">
                <a16:creationId xmlns:a16="http://schemas.microsoft.com/office/drawing/2014/main" id="{F4645C46-4BCE-45A0-8792-7E8FAAE9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来源：extension 用户确认结果｜23 题；不主张统计显著性</a:t>
            </a:r>
          </a:p>
        </p:txBody>
      </p:sp>
      <p:sp>
        <p:nvSpPr>
          <p:cNvPr id="42" name="footer-10-page">
            <a:extLst xmlns:a="http://schemas.openxmlformats.org/drawingml/2006/main">
              <a:ext uri="{FF2B5EF4-FFF2-40B4-BE49-F238E27FC236}">
                <a16:creationId xmlns:a16="http://schemas.microsoft.com/office/drawing/2014/main" id="{9A1802B3-6C6E-49B4-BEBE-A5626C21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05766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C7D7356-4AFC-4637-8CBD-C97AF1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871A9FFF-2DDD-4A07-AF93-D5445855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0FFFC198-28E4-4391-81D5-15C40C53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LOCAL LATENCY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D2A9149-7E57-4EAF-B7ED-0C542F1C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秒级 LLM 延迟是当前最现实的工程成本</a:t>
            </a:r>
          </a:p>
        </p:txBody>
      </p:sp>
      <p:sp>
        <p:nvSpPr>
          <p:cNvPr id="5" name="latency-grid-0">
            <a:extLst xmlns:a="http://schemas.openxmlformats.org/drawingml/2006/main">
              <a:ext uri="{FF2B5EF4-FFF2-40B4-BE49-F238E27FC236}">
                <a16:creationId xmlns:a16="http://schemas.microsoft.com/office/drawing/2014/main" id="{ED937D08-9314-4294-AEC9-6C2065F6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0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7B44F-644E-4740-915A-F3DF5F30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600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 ms</a:t>
            </a:r>
          </a:p>
        </p:txBody>
      </p:sp>
      <p:sp>
        <p:nvSpPr>
          <p:cNvPr id="7" name="latency-grid-1">
            <a:extLst xmlns:a="http://schemas.openxmlformats.org/drawingml/2006/main">
              <a:ext uri="{FF2B5EF4-FFF2-40B4-BE49-F238E27FC236}">
                <a16:creationId xmlns:a16="http://schemas.microsoft.com/office/drawing/2014/main" id="{4DBB308A-1A73-4B13-BD17-1EE62302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946" y="2000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7D723-ADB2-48FB-A91E-65D17135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096" y="5600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 ms</a:t>
            </a:r>
          </a:p>
        </p:txBody>
      </p:sp>
      <p:sp>
        <p:nvSpPr>
          <p:cNvPr id="9" name="latency-grid-2">
            <a:extLst xmlns:a="http://schemas.openxmlformats.org/drawingml/2006/main">
              <a:ext uri="{FF2B5EF4-FFF2-40B4-BE49-F238E27FC236}">
                <a16:creationId xmlns:a16="http://schemas.microsoft.com/office/drawing/2014/main" id="{8CAB90B4-8579-47A7-8777-E95E5AAA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268" y="2000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40685-EFA7-4A54-AB70-A42B5981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418" y="5600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100 ms</a:t>
            </a:r>
          </a:p>
        </p:txBody>
      </p:sp>
      <p:sp>
        <p:nvSpPr>
          <p:cNvPr id="11" name="latency-grid-3">
            <a:extLst xmlns:a="http://schemas.openxmlformats.org/drawingml/2006/main">
              <a:ext uri="{FF2B5EF4-FFF2-40B4-BE49-F238E27FC236}">
                <a16:creationId xmlns:a16="http://schemas.microsoft.com/office/drawing/2014/main" id="{68DB1CC9-4A5B-490E-9CA7-428CA93A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589" y="2000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DBA50-0426-404A-8DAA-569613F4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739" y="5600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 s</a:t>
            </a:r>
          </a:p>
        </p:txBody>
      </p:sp>
      <p:sp>
        <p:nvSpPr>
          <p:cNvPr id="13" name="latency-grid-4">
            <a:extLst xmlns:a="http://schemas.openxmlformats.org/drawingml/2006/main">
              <a:ext uri="{FF2B5EF4-FFF2-40B4-BE49-F238E27FC236}">
                <a16:creationId xmlns:a16="http://schemas.microsoft.com/office/drawing/2014/main" id="{E9040B9F-B1F0-425D-AB5D-4F8E25B7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911" y="20002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A00C8-EE12-4047-9C36-E9B4F7C0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061" y="5600700"/>
            <a:ext cx="64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EBD3F-73A7-4068-823D-5744598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574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Rule Baseline</a:t>
            </a:r>
          </a:p>
        </p:txBody>
      </p:sp>
      <p:sp>
        <p:nvSpPr>
          <p:cNvPr id="16" name="latency-bar-0">
            <a:extLst xmlns:a="http://schemas.openxmlformats.org/drawingml/2006/main">
              <a:ext uri="{FF2B5EF4-FFF2-40B4-BE49-F238E27FC236}">
                <a16:creationId xmlns:a16="http://schemas.microsoft.com/office/drawing/2014/main" id="{D6C9B169-1BF0-4706-9CBA-66E4AB95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138763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CC4DB-A78D-469E-A4CF-3AD956CD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609" y="22669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5F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5FD0"/>
                </a:solidFill>
                <a:latin typeface="Aptos"/>
                <a:ea typeface="Aptos"/>
                <a:cs typeface="Aptos"/>
              </a:rPr>
              <a:t>5.46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78CAB-4B0A-4599-8A56-4C6B6331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LLM Strict v2</a:t>
            </a:r>
          </a:p>
        </p:txBody>
      </p:sp>
      <p:sp>
        <p:nvSpPr>
          <p:cNvPr id="19" name="latency-bar-1">
            <a:extLst xmlns:a="http://schemas.openxmlformats.org/drawingml/2006/main">
              <a:ext uri="{FF2B5EF4-FFF2-40B4-BE49-F238E27FC236}">
                <a16:creationId xmlns:a16="http://schemas.microsoft.com/office/drawing/2014/main" id="{4B76A772-FC5A-43C3-A6BD-4A6606B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767089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7D524-CEFE-4586-B580-A8A813D7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866" y="31051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11.89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26525-F495-4573-897A-D8D44774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LLM No Verifier v2</a:t>
            </a:r>
          </a:p>
        </p:txBody>
      </p:sp>
      <p:sp>
        <p:nvSpPr>
          <p:cNvPr id="22" name="latency-bar-2">
            <a:extLst xmlns:a="http://schemas.openxmlformats.org/drawingml/2006/main">
              <a:ext uri="{FF2B5EF4-FFF2-40B4-BE49-F238E27FC236}">
                <a16:creationId xmlns:a16="http://schemas.microsoft.com/office/drawing/2014/main" id="{9A940C47-6503-4EE3-95AF-D49EE9DC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67150"/>
            <a:ext cx="699591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18872-CFDB-426C-A966-C441B087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889" y="3943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5.21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C8D95-1C60-4357-B503-59517FFF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LLM Partial-pass v2</a:t>
            </a:r>
          </a:p>
        </p:txBody>
      </p:sp>
      <p:sp>
        <p:nvSpPr>
          <p:cNvPr id="25" name="latency-bar-3">
            <a:extLst xmlns:a="http://schemas.openxmlformats.org/drawingml/2006/main">
              <a:ext uri="{FF2B5EF4-FFF2-40B4-BE49-F238E27FC236}">
                <a16:creationId xmlns:a16="http://schemas.microsoft.com/office/drawing/2014/main" id="{791DF8B3-B1B8-458F-98A8-F5F5CB2B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730572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49895-E1E2-45E6-9A66-354ACDF6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704" y="47815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A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A57"/>
                </a:solidFill>
                <a:latin typeface="Aptos"/>
                <a:ea typeface="Aptos"/>
                <a:cs typeface="Aptos"/>
              </a:rPr>
              <a:t>7.61 s</a:t>
            </a:r>
          </a:p>
        </p:txBody>
      </p:sp>
      <p:sp>
        <p:nvSpPr>
          <p:cNvPr id="27" name="latency-callout">
            <a:extLst xmlns:a="http://schemas.openxmlformats.org/drawingml/2006/main">
              <a:ext uri="{FF2B5EF4-FFF2-40B4-BE49-F238E27FC236}">
                <a16:creationId xmlns:a16="http://schemas.microsoft.com/office/drawing/2014/main" id="{C1E58A81-11FB-4B77-8284-BA67D1A4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10620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1DA"/>
          </a:solidFill>
          <a:ln xmlns:a="http://schemas.openxmlformats.org/drawingml/2006/main" w="9525">
            <a:solidFill>
              <a:srgbClr val="E3A72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20564-9B4A-4A2B-82C9-92A5491F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00750"/>
            <a:ext cx="1024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Stage 8.5 dev 中 generation 约占 9408.91 / 9420.28 ms：瓶颈主要在模型生成，不在检索或验证。</a:t>
            </a:r>
          </a:p>
        </p:txBody>
      </p:sp>
      <p:sp>
        <p:nvSpPr>
          <p:cNvPr id="29" name="footer-11-rule">
            <a:extLst xmlns:a="http://schemas.openxmlformats.org/drawingml/2006/main">
              <a:ext uri="{FF2B5EF4-FFF2-40B4-BE49-F238E27FC236}">
                <a16:creationId xmlns:a16="http://schemas.microsoft.com/office/drawing/2014/main" id="{5E1759A3-F0BB-40BF-B612-D8EB5746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ooter-11-source">
            <a:extLst xmlns:a="http://schemas.openxmlformats.org/drawingml/2006/main">
              <a:ext uri="{FF2B5EF4-FFF2-40B4-BE49-F238E27FC236}">
                <a16:creationId xmlns:a16="http://schemas.microsoft.com/office/drawing/2014/main" id="{BF417443-ADEC-45CD-A3A6-B308D34F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来源：extension 单机本地受控运行｜横轴为对数尺度，不代表跨硬件性能</a:t>
            </a:r>
          </a:p>
        </p:txBody>
      </p:sp>
      <p:sp>
        <p:nvSpPr>
          <p:cNvPr id="31" name="footer-11-page">
            <a:extLst xmlns:a="http://schemas.openxmlformats.org/drawingml/2006/main">
              <a:ext uri="{FF2B5EF4-FFF2-40B4-BE49-F238E27FC236}">
                <a16:creationId xmlns:a16="http://schemas.microsoft.com/office/drawing/2014/main" id="{39C27C0D-C070-4387-A390-BF1CD4D9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17698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F128930-0246-4ADE-9BA5-7B85D6AE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189CDA3D-01F2-48D1-B395-361B980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D60218FC-99C8-4C11-B369-BEF78577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1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1EE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C6129-2CB3-4247-AAE8-CFED027D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19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项目完成了可审计闭环，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但没有证明 LLM 全面优于规则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831EF-914E-4A39-A83D-F2A50115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57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rPr>
              <a:t>已经证明</a:t>
            </a:r>
          </a:p>
        </p:txBody>
      </p:sp>
      <p:sp>
        <p:nvSpPr>
          <p:cNvPr id="6" name="conclusion-proven-1-marker">
            <a:extLst xmlns:a="http://schemas.openxmlformats.org/drawingml/2006/main">
              <a:ext uri="{FF2B5EF4-FFF2-40B4-BE49-F238E27FC236}">
                <a16:creationId xmlns:a16="http://schemas.microsoft.com/office/drawing/2014/main" id="{90554E35-B50C-408B-990D-84ED83C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onclusion-proven-1-text">
            <a:extLst xmlns:a="http://schemas.openxmlformats.org/drawingml/2006/main">
              <a:ext uri="{FF2B5EF4-FFF2-40B4-BE49-F238E27FC236}">
                <a16:creationId xmlns:a16="http://schemas.microsoft.com/office/drawing/2014/main" id="{74BA1E35-F19E-49D7-9483-31FB2F2E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预定义图关系 + 官方 Chunk 可以形成可追溯证据链</a:t>
            </a:r>
          </a:p>
        </p:txBody>
      </p:sp>
      <p:sp>
        <p:nvSpPr>
          <p:cNvPr id="8" name="conclusion-proven-2-marker">
            <a:extLst xmlns:a="http://schemas.openxmlformats.org/drawingml/2006/main">
              <a:ext uri="{FF2B5EF4-FFF2-40B4-BE49-F238E27FC236}">
                <a16:creationId xmlns:a16="http://schemas.microsoft.com/office/drawing/2014/main" id="{695CFDE3-4DE2-42CC-A7F6-01B33D35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onclusion-proven-2-text">
            <a:extLst xmlns:a="http://schemas.openxmlformats.org/drawingml/2006/main">
              <a:ext uri="{FF2B5EF4-FFF2-40B4-BE49-F238E27FC236}">
                <a16:creationId xmlns:a16="http://schemas.microsoft.com/office/drawing/2014/main" id="{0490F101-979B-49BB-B083-3B3C5280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Claim-level Partial-pass 相比 Strict 缓解过度拒答</a:t>
            </a:r>
          </a:p>
        </p:txBody>
      </p:sp>
      <p:sp>
        <p:nvSpPr>
          <p:cNvPr id="10" name="conclusion-proven-3-marker">
            <a:extLst xmlns:a="http://schemas.openxmlformats.org/drawingml/2006/main">
              <a:ext uri="{FF2B5EF4-FFF2-40B4-BE49-F238E27FC236}">
                <a16:creationId xmlns:a16="http://schemas.microsoft.com/office/drawing/2014/main" id="{5F6B0F48-C09B-486B-A174-F2032DFD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conclusion-proven-3-text">
            <a:extLst xmlns:a="http://schemas.openxmlformats.org/drawingml/2006/main">
              <a:ext uri="{FF2B5EF4-FFF2-40B4-BE49-F238E27FC236}">
                <a16:creationId xmlns:a16="http://schemas.microsoft.com/office/drawing/2014/main" id="{2E07F070-86F1-4BD6-978A-E525D4C4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Verifier 对错误前提、无答案题和 unsupported Claim 有直接作用</a:t>
            </a:r>
          </a:p>
        </p:txBody>
      </p:sp>
      <p:sp>
        <p:nvSpPr>
          <p:cNvPr id="12" name="conclusion-divider">
            <a:extLst xmlns:a="http://schemas.openxmlformats.org/drawingml/2006/main">
              <a:ext uri="{FF2B5EF4-FFF2-40B4-BE49-F238E27FC236}">
                <a16:creationId xmlns:a16="http://schemas.microsoft.com/office/drawing/2014/main" id="{4AD4CB29-89DE-4EE9-8E90-CA4861C3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24150"/>
            <a:ext cx="9525" cy="254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A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F7869-E6BC-41D7-8A2B-3C7C0444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84A3A"/>
                </a:solidFill>
                <a:latin typeface="Microsoft YaHei"/>
                <a:ea typeface="Microsoft YaHei"/>
                <a:cs typeface="Microsoft YaHei"/>
              </a:rPr>
              <a:t>仍需保留</a:t>
            </a:r>
          </a:p>
        </p:txBody>
      </p:sp>
      <p:sp>
        <p:nvSpPr>
          <p:cNvPr id="14" name="conclusion-limit-1-marker">
            <a:extLst xmlns:a="http://schemas.openxmlformats.org/drawingml/2006/main">
              <a:ext uri="{FF2B5EF4-FFF2-40B4-BE49-F238E27FC236}">
                <a16:creationId xmlns:a16="http://schemas.microsoft.com/office/drawing/2014/main" id="{F8FA950E-3862-4E90-A90A-0840311C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conclusion-limit-1-text">
            <a:extLst xmlns:a="http://schemas.openxmlformats.org/drawingml/2006/main">
              <a:ext uri="{FF2B5EF4-FFF2-40B4-BE49-F238E27FC236}">
                <a16:creationId xmlns:a16="http://schemas.microsoft.com/office/drawing/2014/main" id="{96F831CF-8A38-428D-A1C0-58422AE0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33725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Partial-pass Correctness 0.5217，未超过 Rule 的 0.5870</a:t>
            </a:r>
          </a:p>
        </p:txBody>
      </p:sp>
      <p:sp>
        <p:nvSpPr>
          <p:cNvPr id="16" name="conclusion-limit-2-marker">
            <a:extLst xmlns:a="http://schemas.openxmlformats.org/drawingml/2006/main">
              <a:ext uri="{FF2B5EF4-FFF2-40B4-BE49-F238E27FC236}">
                <a16:creationId xmlns:a16="http://schemas.microsoft.com/office/drawing/2014/main" id="{5D9AC839-35EE-4655-B512-5A72A2F1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nclusion-limit-2-text">
            <a:extLst xmlns:a="http://schemas.openxmlformats.org/drawingml/2006/main">
              <a:ext uri="{FF2B5EF4-FFF2-40B4-BE49-F238E27FC236}">
                <a16:creationId xmlns:a16="http://schemas.microsoft.com/office/drawing/2014/main" id="{246840D7-F1D8-494D-97C5-9194E35D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81425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LLM 平均延迟仍为 5.21-11.89 秒</a:t>
            </a:r>
          </a:p>
        </p:txBody>
      </p:sp>
      <p:sp>
        <p:nvSpPr>
          <p:cNvPr id="18" name="conclusion-limit-3-marker">
            <a:extLst xmlns:a="http://schemas.openxmlformats.org/drawingml/2006/main">
              <a:ext uri="{FF2B5EF4-FFF2-40B4-BE49-F238E27FC236}">
                <a16:creationId xmlns:a16="http://schemas.microsoft.com/office/drawing/2014/main" id="{F485126C-5D69-49A9-87CC-F8739463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14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conclusion-limit-3-text">
            <a:extLst xmlns:a="http://schemas.openxmlformats.org/drawingml/2006/main">
              <a:ext uri="{FF2B5EF4-FFF2-40B4-BE49-F238E27FC236}">
                <a16:creationId xmlns:a16="http://schemas.microsoft.com/office/drawing/2014/main" id="{BC9F7DDB-C903-4800-841F-118C0C24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29125"/>
            <a:ext cx="459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6 页语料、23 题 extension 与单一确认不能支持广泛泛化</a:t>
            </a:r>
          </a:p>
        </p:txBody>
      </p:sp>
      <p:sp>
        <p:nvSpPr>
          <p:cNvPr id="20" name="next-step-rule">
            <a:extLst xmlns:a="http://schemas.openxmlformats.org/drawingml/2006/main">
              <a:ext uri="{FF2B5EF4-FFF2-40B4-BE49-F238E27FC236}">
                <a16:creationId xmlns:a16="http://schemas.microsoft.com/office/drawing/2014/main" id="{31B063ED-F6A9-44C4-B00F-24F3E562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A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12E82-A045-4E6C-A23D-743D97A0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0E34D-C01B-472E-96FA-7CAFB703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340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属性存在性验证  ·  多跳 required-aspect 覆盖  ·  独立双人标注</a:t>
            </a:r>
          </a:p>
        </p:txBody>
      </p:sp>
      <p:sp>
        <p:nvSpPr>
          <p:cNvPr id="23" name="footer-12-rule">
            <a:extLst xmlns:a="http://schemas.openxmlformats.org/drawingml/2006/main">
              <a:ext uri="{FF2B5EF4-FFF2-40B4-BE49-F238E27FC236}">
                <a16:creationId xmlns:a16="http://schemas.microsoft.com/office/drawing/2014/main" id="{BE1DA944-FCEE-4088-AE9C-C3FF0640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A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ooter-12-source">
            <a:extLst xmlns:a="http://schemas.openxmlformats.org/drawingml/2006/main">
              <a:ext uri="{FF2B5EF4-FFF2-40B4-BE49-F238E27FC236}">
                <a16:creationId xmlns:a16="http://schemas.microsoft.com/office/drawing/2014/main" id="{03D8070E-A74A-47D4-8032-9F0AB8DB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rPr>
              <a:t>结论口径：贡献在证据控制与实验治理，不在基础模型创新</a:t>
            </a:r>
          </a:p>
        </p:txBody>
      </p:sp>
      <p:sp>
        <p:nvSpPr>
          <p:cNvPr id="25" name="footer-12-page">
            <a:extLst xmlns:a="http://schemas.openxmlformats.org/drawingml/2006/main">
              <a:ext uri="{FF2B5EF4-FFF2-40B4-BE49-F238E27FC236}">
                <a16:creationId xmlns:a16="http://schemas.microsoft.com/office/drawing/2014/main" id="{45BEBB0F-AFE8-4A9E-8BEF-6CBD6C05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EB9C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EB9C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09844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7D7EA85-CCD3-4EDE-9DA9-44221D0C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522524A4-A783-48E5-98DC-B8A43137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E940A090-D5AC-4483-9E26-AADEF6C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BACKUP · METHOD MATRIX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D4DD525-0187-4601-9207-FCFC0BA1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四方法固定 Rule Router，只改变生成与验证策略</a:t>
            </a:r>
          </a:p>
        </p:txBody>
      </p:sp>
      <p:sp>
        <p:nvSpPr>
          <p:cNvPr id="5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BB3F7410-AE9B-445E-86CC-2BE50E4F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24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F7F6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DD848-E9CC-466D-B4D3-FAA8AEF9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方法</a:t>
            </a:r>
          </a:p>
        </p:txBody>
      </p:sp>
      <p:sp>
        <p:nvSpPr>
          <p:cNvPr id="7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D9A25ADA-E08A-4A45-8B8F-CAB25BB4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F7F6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6B4FB-70A6-41B7-B529-DBD732E1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95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Router</a:t>
            </a:r>
          </a:p>
        </p:txBody>
      </p:sp>
      <p:sp>
        <p:nvSpPr>
          <p:cNvPr id="9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3964B6A8-F7B2-463C-94AE-0E9503B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F7F6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3456D-C432-4D9B-ACAB-E6CB648D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95475"/>
            <a:ext cx="1704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Generator</a:t>
            </a:r>
          </a:p>
        </p:txBody>
      </p:sp>
      <p:sp>
        <p:nvSpPr>
          <p:cNvPr id="11" name="matrix-header-3">
            <a:extLst xmlns:a="http://schemas.openxmlformats.org/drawingml/2006/main">
              <a:ext uri="{FF2B5EF4-FFF2-40B4-BE49-F238E27FC236}">
                <a16:creationId xmlns:a16="http://schemas.microsoft.com/office/drawing/2014/main" id="{59E2A63D-2B71-4F16-946E-E3C4BD3E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F7F6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11E56-802A-4D8F-9D10-6E1C989D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95475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Packer / Prompt</a:t>
            </a:r>
          </a:p>
        </p:txBody>
      </p:sp>
      <p:sp>
        <p:nvSpPr>
          <p:cNvPr id="13" name="matrix-header-4">
            <a:extLst xmlns:a="http://schemas.openxmlformats.org/drawingml/2006/main">
              <a:ext uri="{FF2B5EF4-FFF2-40B4-BE49-F238E27FC236}">
                <a16:creationId xmlns:a16="http://schemas.microsoft.com/office/drawing/2014/main" id="{4860DA2C-090B-461B-8C3C-D1D9A33A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F7F6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5C5BE-2422-4727-AF2D-23495FCC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954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Verifier / Decision policy</a:t>
            </a:r>
          </a:p>
        </p:txBody>
      </p:sp>
      <p:sp>
        <p:nvSpPr>
          <p:cNvPr id="15" name="matrix-r0-c0">
            <a:extLst xmlns:a="http://schemas.openxmlformats.org/drawingml/2006/main">
              <a:ext uri="{FF2B5EF4-FFF2-40B4-BE49-F238E27FC236}">
                <a16:creationId xmlns:a16="http://schemas.microsoft.com/office/drawing/2014/main" id="{3BA7A01E-118E-465F-898E-C6FE0550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247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5F012-38CC-4A77-AECF-DE76C276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Rule Baseline</a:t>
            </a:r>
          </a:p>
        </p:txBody>
      </p:sp>
      <p:sp>
        <p:nvSpPr>
          <p:cNvPr id="17" name="matrix-r0-c1">
            <a:extLst xmlns:a="http://schemas.openxmlformats.org/drawingml/2006/main">
              <a:ext uri="{FF2B5EF4-FFF2-40B4-BE49-F238E27FC236}">
                <a16:creationId xmlns:a16="http://schemas.microsoft.com/office/drawing/2014/main" id="{0E1035B0-6731-42CD-899B-1DE21D8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D45E4-0F80-49A7-B3F2-485A99E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38400"/>
            <a:ext cx="1247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19" name="matrix-r0-c2">
            <a:extLst xmlns:a="http://schemas.openxmlformats.org/drawingml/2006/main">
              <a:ext uri="{FF2B5EF4-FFF2-40B4-BE49-F238E27FC236}">
                <a16:creationId xmlns:a16="http://schemas.microsoft.com/office/drawing/2014/main" id="{D02175A5-5477-4986-BADA-24EE91D7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24100"/>
            <a:ext cx="1857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1FF00-03EE-45FD-9711-F3060EB1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38400"/>
            <a:ext cx="1628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21" name="matrix-r0-c3">
            <a:extLst xmlns:a="http://schemas.openxmlformats.org/drawingml/2006/main">
              <a:ext uri="{FF2B5EF4-FFF2-40B4-BE49-F238E27FC236}">
                <a16:creationId xmlns:a16="http://schemas.microsoft.com/office/drawing/2014/main" id="{6B0A4A62-7D16-4D12-833A-80B581C5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176A8-AFD1-43B3-A55E-406E550E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23" name="matrix-r0-c4">
            <a:extLst xmlns:a="http://schemas.openxmlformats.org/drawingml/2006/main">
              <a:ext uri="{FF2B5EF4-FFF2-40B4-BE49-F238E27FC236}">
                <a16:creationId xmlns:a16="http://schemas.microsoft.com/office/drawing/2014/main" id="{83946242-668C-411B-A546-9D2CFF72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3295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C89D2-0A35-430C-A23F-7B2E088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3067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strict_v1 / whole answer</a:t>
            </a:r>
          </a:p>
        </p:txBody>
      </p:sp>
      <p:sp>
        <p:nvSpPr>
          <p:cNvPr id="25" name="matrix-r1-c0">
            <a:extLst xmlns:a="http://schemas.openxmlformats.org/drawingml/2006/main">
              <a:ext uri="{FF2B5EF4-FFF2-40B4-BE49-F238E27FC236}">
                <a16:creationId xmlns:a16="http://schemas.microsoft.com/office/drawing/2014/main" id="{BA558328-8BA7-43C4-841A-04317BA8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247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F7250-A31B-4B65-A994-354B559A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LLM Strict v2</a:t>
            </a:r>
          </a:p>
        </p:txBody>
      </p:sp>
      <p:sp>
        <p:nvSpPr>
          <p:cNvPr id="27" name="matrix-r1-c1">
            <a:extLst xmlns:a="http://schemas.openxmlformats.org/drawingml/2006/main">
              <a:ext uri="{FF2B5EF4-FFF2-40B4-BE49-F238E27FC236}">
                <a16:creationId xmlns:a16="http://schemas.microsoft.com/office/drawing/2014/main" id="{544E62A5-8E62-45B6-A142-F3F228E8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F9FE54-1F23-4F33-BCBF-B32A4D25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1247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29" name="matrix-r1-c2">
            <a:extLst xmlns:a="http://schemas.openxmlformats.org/drawingml/2006/main">
              <a:ext uri="{FF2B5EF4-FFF2-40B4-BE49-F238E27FC236}">
                <a16:creationId xmlns:a16="http://schemas.microsoft.com/office/drawing/2014/main" id="{BFBD6CCA-C52D-4C01-A30A-270F9C6F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05150"/>
            <a:ext cx="1857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47A59-759B-4CA3-AE34-7CD0E823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19450"/>
            <a:ext cx="1628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qwen3:4b</a:t>
            </a:r>
          </a:p>
        </p:txBody>
      </p:sp>
      <p:sp>
        <p:nvSpPr>
          <p:cNvPr id="31" name="matrix-r1-c3">
            <a:extLst xmlns:a="http://schemas.openxmlformats.org/drawingml/2006/main">
              <a:ext uri="{FF2B5EF4-FFF2-40B4-BE49-F238E27FC236}">
                <a16:creationId xmlns:a16="http://schemas.microsoft.com/office/drawing/2014/main" id="{DC9A3725-DE7F-40DC-850E-EE79E8AC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F2D63A-D3A5-4ED8-9A75-38479DF3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intent-aware v2 / Prompt v2</a:t>
            </a:r>
          </a:p>
        </p:txBody>
      </p:sp>
      <p:sp>
        <p:nvSpPr>
          <p:cNvPr id="33" name="matrix-r1-c4">
            <a:extLst xmlns:a="http://schemas.openxmlformats.org/drawingml/2006/main">
              <a:ext uri="{FF2B5EF4-FFF2-40B4-BE49-F238E27FC236}">
                <a16:creationId xmlns:a16="http://schemas.microsoft.com/office/drawing/2014/main" id="{E8E0862A-B218-4C89-9146-16826CC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3295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78F142-CC75-48E5-8172-994888D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067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strict whole-answer</a:t>
            </a:r>
          </a:p>
        </p:txBody>
      </p:sp>
      <p:sp>
        <p:nvSpPr>
          <p:cNvPr id="35" name="matrix-r2-c0">
            <a:extLst xmlns:a="http://schemas.openxmlformats.org/drawingml/2006/main">
              <a:ext uri="{FF2B5EF4-FFF2-40B4-BE49-F238E27FC236}">
                <a16:creationId xmlns:a16="http://schemas.microsoft.com/office/drawing/2014/main" id="{89681A52-1890-4C3A-9441-4B0EEF04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247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6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FDFA49-8543-49CE-9063-B1415675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LLM No Verifier v2</a:t>
            </a:r>
          </a:p>
        </p:txBody>
      </p:sp>
      <p:sp>
        <p:nvSpPr>
          <p:cNvPr id="37" name="matrix-r2-c1">
            <a:extLst xmlns:a="http://schemas.openxmlformats.org/drawingml/2006/main">
              <a:ext uri="{FF2B5EF4-FFF2-40B4-BE49-F238E27FC236}">
                <a16:creationId xmlns:a16="http://schemas.microsoft.com/office/drawing/2014/main" id="{B48EC94C-E070-439F-8DD1-A4AC1E5D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6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3C7C6C-A624-4AE8-943C-97FA5D46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00500"/>
            <a:ext cx="1247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39" name="matrix-r2-c2">
            <a:extLst xmlns:a="http://schemas.openxmlformats.org/drawingml/2006/main">
              <a:ext uri="{FF2B5EF4-FFF2-40B4-BE49-F238E27FC236}">
                <a16:creationId xmlns:a16="http://schemas.microsoft.com/office/drawing/2014/main" id="{4B9C3C03-0E62-4EC8-A2EE-330C8EA2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86200"/>
            <a:ext cx="1857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6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1E0ED7-A62D-4FDB-A6C7-3E3BBAE6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00500"/>
            <a:ext cx="1628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qwen3:4b</a:t>
            </a:r>
          </a:p>
        </p:txBody>
      </p:sp>
      <p:sp>
        <p:nvSpPr>
          <p:cNvPr id="41" name="matrix-r2-c3">
            <a:extLst xmlns:a="http://schemas.openxmlformats.org/drawingml/2006/main">
              <a:ext uri="{FF2B5EF4-FFF2-40B4-BE49-F238E27FC236}">
                <a16:creationId xmlns:a16="http://schemas.microsoft.com/office/drawing/2014/main" id="{2B215962-69D8-44D5-BC82-0D202F77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6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F65E21-6E6E-435B-BF4C-00EA4D01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intent-aware v2 / Prompt v2</a:t>
            </a:r>
          </a:p>
        </p:txBody>
      </p:sp>
      <p:sp>
        <p:nvSpPr>
          <p:cNvPr id="43" name="matrix-r2-c4">
            <a:extLst xmlns:a="http://schemas.openxmlformats.org/drawingml/2006/main">
              <a:ext uri="{FF2B5EF4-FFF2-40B4-BE49-F238E27FC236}">
                <a16:creationId xmlns:a16="http://schemas.microsoft.com/office/drawing/2014/main" id="{67F47369-071B-459D-8B89-43748613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3295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6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BD30C3-F9F7-4FEE-BEA2-0BE72CFB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3067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shadow only / no intervention</a:t>
            </a:r>
          </a:p>
        </p:txBody>
      </p:sp>
      <p:sp>
        <p:nvSpPr>
          <p:cNvPr id="45" name="matrix-r3-c0">
            <a:extLst xmlns:a="http://schemas.openxmlformats.org/drawingml/2006/main">
              <a:ext uri="{FF2B5EF4-FFF2-40B4-BE49-F238E27FC236}">
                <a16:creationId xmlns:a16="http://schemas.microsoft.com/office/drawing/2014/main" id="{5C3CE98B-E89A-4115-BBA6-4EA03533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247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57B924-2008-4753-940C-701503B3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238"/>
                </a:solidFill>
                <a:latin typeface="Aptos"/>
                <a:ea typeface="Aptos"/>
                <a:cs typeface="Aptos"/>
              </a:rPr>
              <a:t>LLM Partial-pass v2</a:t>
            </a:r>
          </a:p>
        </p:txBody>
      </p:sp>
      <p:sp>
        <p:nvSpPr>
          <p:cNvPr id="47" name="matrix-r3-c1">
            <a:extLst xmlns:a="http://schemas.openxmlformats.org/drawingml/2006/main">
              <a:ext uri="{FF2B5EF4-FFF2-40B4-BE49-F238E27FC236}">
                <a16:creationId xmlns:a16="http://schemas.microsoft.com/office/drawing/2014/main" id="{CF6F9BF5-3929-4C82-8800-65386809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26D5E4-9AB3-4DD1-AF2A-826F4799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81550"/>
            <a:ext cx="1247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49" name="matrix-r3-c2">
            <a:extLst xmlns:a="http://schemas.openxmlformats.org/drawingml/2006/main">
              <a:ext uri="{FF2B5EF4-FFF2-40B4-BE49-F238E27FC236}">
                <a16:creationId xmlns:a16="http://schemas.microsoft.com/office/drawing/2014/main" id="{2ED40380-CFAD-4F69-BB66-28BB534E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67250"/>
            <a:ext cx="1857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353E4E-A5CA-41E2-8B43-D1764E03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81550"/>
            <a:ext cx="16287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qwen3:4b</a:t>
            </a:r>
          </a:p>
        </p:txBody>
      </p:sp>
      <p:sp>
        <p:nvSpPr>
          <p:cNvPr id="51" name="matrix-r3-c3">
            <a:extLst xmlns:a="http://schemas.openxmlformats.org/drawingml/2006/main">
              <a:ext uri="{FF2B5EF4-FFF2-40B4-BE49-F238E27FC236}">
                <a16:creationId xmlns:a16="http://schemas.microsoft.com/office/drawing/2014/main" id="{B5F50BB5-B597-4A4A-9127-1FFC5184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A5D01F-4DE6-4FC7-92D4-99AD1E72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intent-aware v2 / Prompt v2</a:t>
            </a:r>
          </a:p>
        </p:txBody>
      </p:sp>
      <p:sp>
        <p:nvSpPr>
          <p:cNvPr id="53" name="matrix-r3-c4">
            <a:extLst xmlns:a="http://schemas.openxmlformats.org/drawingml/2006/main">
              <a:ext uri="{FF2B5EF4-FFF2-40B4-BE49-F238E27FC236}">
                <a16:creationId xmlns:a16="http://schemas.microsoft.com/office/drawing/2014/main" id="{78FAE233-9353-42F3-8FDC-9B670CED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3295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C"/>
          </a:solidFill>
          <a:ln xmlns:a="http://schemas.openxmlformats.org/drawingml/2006/main" w="9525">
            <a:solidFill>
              <a:srgbClr val="CBD2D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1DD8CB-8332-4797-B83E-801E7582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81550"/>
            <a:ext cx="3067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2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238"/>
                </a:solidFill>
                <a:latin typeface="Aptos"/>
                <a:ea typeface="Aptos"/>
                <a:cs typeface="Aptos"/>
              </a:rPr>
              <a:t>Claim-level partial-pass</a:t>
            </a:r>
          </a:p>
        </p:txBody>
      </p:sp>
      <p:sp>
        <p:nvSpPr>
          <p:cNvPr id="55" name="matrix-note">
            <a:extLst xmlns:a="http://schemas.openxmlformats.org/drawingml/2006/main">
              <a:ext uri="{FF2B5EF4-FFF2-40B4-BE49-F238E27FC236}">
                <a16:creationId xmlns:a16="http://schemas.microsoft.com/office/drawing/2014/main" id="{AA8FD940-09BD-4A11-882B-83753ABE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45DFBF-C50D-42EA-BB09-C75B357F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2238"/>
                </a:solidFill>
                <a:latin typeface="Microsoft YaHei"/>
                <a:ea typeface="Microsoft YaHei"/>
                <a:cs typeface="Microsoft YaHei"/>
              </a:rPr>
              <a:t>Strict 与 Partial-pass 共用相同 Retriever、Packer、Prompt、模型和生成参数，差异只归因于 Verifier 决策方式。</a:t>
            </a:r>
          </a:p>
        </p:txBody>
      </p:sp>
      <p:sp>
        <p:nvSpPr>
          <p:cNvPr id="57" name="footer-13-rule">
            <a:extLst xmlns:a="http://schemas.openxmlformats.org/drawingml/2006/main">
              <a:ext uri="{FF2B5EF4-FFF2-40B4-BE49-F238E27FC236}">
                <a16:creationId xmlns:a16="http://schemas.microsoft.com/office/drawing/2014/main" id="{71B9FCD5-1CF1-43A6-BA77-CFB8C736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footer-13-source">
            <a:extLst xmlns:a="http://schemas.openxmlformats.org/drawingml/2006/main">
              <a:ext uri="{FF2B5EF4-FFF2-40B4-BE49-F238E27FC236}">
                <a16:creationId xmlns:a16="http://schemas.microsoft.com/office/drawing/2014/main" id="{2442C2FC-5832-4693-9EB8-C12F4F7D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来源：冻结 extension v2 方法合同</a:t>
            </a:r>
          </a:p>
        </p:txBody>
      </p:sp>
      <p:sp>
        <p:nvSpPr>
          <p:cNvPr id="59" name="footer-13-page">
            <a:extLst xmlns:a="http://schemas.openxmlformats.org/drawingml/2006/main">
              <a:ext uri="{FF2B5EF4-FFF2-40B4-BE49-F238E27FC236}">
                <a16:creationId xmlns:a16="http://schemas.microsoft.com/office/drawing/2014/main" id="{8CC3ACAA-A78D-470B-9EBD-902C4DB4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640258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CFEE9B1-95E5-4A0C-9ADF-6B435035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5700150B-0717-4D1F-884E-5BAC3847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373FBF91-B3E8-423C-ABED-15BD816F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8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1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1EE"/>
                </a:solidFill>
                <a:latin typeface="Aptos"/>
                <a:ea typeface="Aptos"/>
                <a:cs typeface="Aptos"/>
              </a:rPr>
              <a:t>BACKUP · CLAIM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6C4A6-C3ED-45D3-AE62-967E6FD4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8286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可声明的贡献，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与必须保留的边界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CD40E-F8F8-45E2-8BD6-0FA86356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8A57"/>
                </a:solidFill>
                <a:latin typeface="Microsoft YaHei"/>
                <a:ea typeface="Microsoft YaHei"/>
                <a:cs typeface="Microsoft YaHei"/>
              </a:rPr>
              <a:t>可以说</a:t>
            </a:r>
          </a:p>
        </p:txBody>
      </p:sp>
      <p:sp>
        <p:nvSpPr>
          <p:cNvPr id="6" name="claim-allowed-1-marker">
            <a:extLst xmlns:a="http://schemas.openxmlformats.org/drawingml/2006/main">
              <a:ext uri="{FF2B5EF4-FFF2-40B4-BE49-F238E27FC236}">
                <a16:creationId xmlns:a16="http://schemas.microsoft.com/office/drawing/2014/main" id="{AEDC99D9-0236-4229-9334-60776D11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laim-allowed-1-text">
            <a:extLst xmlns:a="http://schemas.openxmlformats.org/drawingml/2006/main">
              <a:ext uri="{FF2B5EF4-FFF2-40B4-BE49-F238E27FC236}">
                <a16:creationId xmlns:a16="http://schemas.microsoft.com/office/drawing/2014/main" id="{E3F1E7EF-B89D-4C6C-8FF4-CE93CA07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实现预定义知识图谱增强的轻量化混合 RAG</a:t>
            </a:r>
          </a:p>
        </p:txBody>
      </p:sp>
      <p:sp>
        <p:nvSpPr>
          <p:cNvPr id="8" name="claim-allowed-2-marker">
            <a:extLst xmlns:a="http://schemas.openxmlformats.org/drawingml/2006/main">
              <a:ext uri="{FF2B5EF4-FFF2-40B4-BE49-F238E27FC236}">
                <a16:creationId xmlns:a16="http://schemas.microsoft.com/office/drawing/2014/main" id="{370CEA43-A948-4E90-BEAA-0C89C854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laim-allowed-2-text">
            <a:extLst xmlns:a="http://schemas.openxmlformats.org/drawingml/2006/main">
              <a:ext uri="{FF2B5EF4-FFF2-40B4-BE49-F238E27FC236}">
                <a16:creationId xmlns:a16="http://schemas.microsoft.com/office/drawing/2014/main" id="{08F85EB0-4497-4205-A046-55F2222B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591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Claim-level 验证可删除不受支持内容并保留有证据部分</a:t>
            </a:r>
          </a:p>
        </p:txBody>
      </p:sp>
      <p:sp>
        <p:nvSpPr>
          <p:cNvPr id="10" name="claim-allowed-3-marker">
            <a:extLst xmlns:a="http://schemas.openxmlformats.org/drawingml/2006/main">
              <a:ext uri="{FF2B5EF4-FFF2-40B4-BE49-F238E27FC236}">
                <a16:creationId xmlns:a16="http://schemas.microsoft.com/office/drawing/2014/main" id="{B447445E-AF90-48C7-95AB-0F0E5965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claim-allowed-3-text">
            <a:extLst xmlns:a="http://schemas.openxmlformats.org/drawingml/2006/main">
              <a:ext uri="{FF2B5EF4-FFF2-40B4-BE49-F238E27FC236}">
                <a16:creationId xmlns:a16="http://schemas.microsoft.com/office/drawing/2014/main" id="{405BF3F4-C105-4ADC-99AF-A9B9C05F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Partial-pass 相比 Strict 缓解 extension 过度拒答</a:t>
            </a:r>
          </a:p>
        </p:txBody>
      </p:sp>
      <p:sp>
        <p:nvSpPr>
          <p:cNvPr id="12" name="claim-allowed-4-marker">
            <a:extLst xmlns:a="http://schemas.openxmlformats.org/drawingml/2006/main">
              <a:ext uri="{FF2B5EF4-FFF2-40B4-BE49-F238E27FC236}">
                <a16:creationId xmlns:a16="http://schemas.microsoft.com/office/drawing/2014/main" id="{8015CC92-71C9-4B6D-B554-AA5D8FCA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laim-allowed-4-text">
            <a:extLst xmlns:a="http://schemas.openxmlformats.org/drawingml/2006/main">
              <a:ext uri="{FF2B5EF4-FFF2-40B4-BE49-F238E27FC236}">
                <a16:creationId xmlns:a16="http://schemas.microsoft.com/office/drawing/2014/main" id="{1F03011A-D846-4B2C-A662-3553FF18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结果、配置、哈希、receipt 与盲评流程可审计</a:t>
            </a:r>
          </a:p>
        </p:txBody>
      </p:sp>
      <p:sp>
        <p:nvSpPr>
          <p:cNvPr id="14" name="claim-boundary-divider">
            <a:extLst xmlns:a="http://schemas.openxmlformats.org/drawingml/2006/main">
              <a:ext uri="{FF2B5EF4-FFF2-40B4-BE49-F238E27FC236}">
                <a16:creationId xmlns:a16="http://schemas.microsoft.com/office/drawing/2014/main" id="{99D43810-BE7B-4A24-A968-6C457790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479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A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18B37-02FC-482D-A272-A6BE08E2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4A3A"/>
                </a:solidFill>
                <a:latin typeface="Microsoft YaHei"/>
                <a:ea typeface="Microsoft YaHei"/>
                <a:cs typeface="Microsoft YaHei"/>
              </a:rPr>
              <a:t>不能说</a:t>
            </a:r>
          </a:p>
        </p:txBody>
      </p:sp>
      <p:sp>
        <p:nvSpPr>
          <p:cNvPr id="16" name="claim-forbidden-1-marker">
            <a:extLst xmlns:a="http://schemas.openxmlformats.org/drawingml/2006/main">
              <a:ext uri="{FF2B5EF4-FFF2-40B4-BE49-F238E27FC236}">
                <a16:creationId xmlns:a16="http://schemas.microsoft.com/office/drawing/2014/main" id="{68C71121-A3C9-4F17-9BE6-329347AD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90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laim-forbidden-1-text">
            <a:extLst xmlns:a="http://schemas.openxmlformats.org/drawingml/2006/main">
              <a:ext uri="{FF2B5EF4-FFF2-40B4-BE49-F238E27FC236}">
                <a16:creationId xmlns:a16="http://schemas.microsoft.com/office/drawing/2014/main" id="{7FA176F8-A772-4FEC-ACBF-66C697F4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05150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实现了完整 Microsoft GraphRAG 或自动图谱抽取</a:t>
            </a:r>
          </a:p>
        </p:txBody>
      </p:sp>
      <p:sp>
        <p:nvSpPr>
          <p:cNvPr id="18" name="claim-forbidden-2-marker">
            <a:extLst xmlns:a="http://schemas.openxmlformats.org/drawingml/2006/main">
              <a:ext uri="{FF2B5EF4-FFF2-40B4-BE49-F238E27FC236}">
                <a16:creationId xmlns:a16="http://schemas.microsoft.com/office/drawing/2014/main" id="{A888E927-CC0F-46C5-BE5A-3FAE2799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00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claim-forbidden-2-text">
            <a:extLst xmlns:a="http://schemas.openxmlformats.org/drawingml/2006/main">
              <a:ext uri="{FF2B5EF4-FFF2-40B4-BE49-F238E27FC236}">
                <a16:creationId xmlns:a16="http://schemas.microsoft.com/office/drawing/2014/main" id="{84195E62-F261-4101-A967-456A2492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当前 Chroma / TF-IDF 是神经 Dense Retrieval</a:t>
            </a:r>
          </a:p>
        </p:txBody>
      </p:sp>
      <p:sp>
        <p:nvSpPr>
          <p:cNvPr id="20" name="claim-forbidden-3-marker">
            <a:extLst xmlns:a="http://schemas.openxmlformats.org/drawingml/2006/main">
              <a:ext uri="{FF2B5EF4-FFF2-40B4-BE49-F238E27FC236}">
                <a16:creationId xmlns:a16="http://schemas.microsoft.com/office/drawing/2014/main" id="{A68002C5-9477-436C-8FBE-200E2226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0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claim-forbidden-3-text">
            <a:extLst xmlns:a="http://schemas.openxmlformats.org/drawingml/2006/main">
              <a:ext uri="{FF2B5EF4-FFF2-40B4-BE49-F238E27FC236}">
                <a16:creationId xmlns:a16="http://schemas.microsoft.com/office/drawing/2014/main" id="{B6C8D48A-ADAB-460E-9C4B-EA09107E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24350"/>
            <a:ext cx="4591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LLM Planner、Neo4j 部署基准或完整 sklearn 泛化已完成</a:t>
            </a:r>
          </a:p>
        </p:txBody>
      </p:sp>
      <p:sp>
        <p:nvSpPr>
          <p:cNvPr id="22" name="claim-forbidden-4-marker">
            <a:extLst xmlns:a="http://schemas.openxmlformats.org/drawingml/2006/main">
              <a:ext uri="{FF2B5EF4-FFF2-40B4-BE49-F238E27FC236}">
                <a16:creationId xmlns:a16="http://schemas.microsoft.com/office/drawing/2014/main" id="{5CA95D40-A993-4254-ABB9-80DB60BC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claim-forbidden-4-text">
            <a:extLst xmlns:a="http://schemas.openxmlformats.org/drawingml/2006/main">
              <a:ext uri="{FF2B5EF4-FFF2-40B4-BE49-F238E27FC236}">
                <a16:creationId xmlns:a16="http://schemas.microsoft.com/office/drawing/2014/main" id="{959E5EF9-7343-4FCE-84B2-581588A0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10150"/>
            <a:ext cx="459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3F6FA"/>
                </a:solidFill>
                <a:latin typeface="Microsoft YaHei"/>
                <a:ea typeface="Microsoft YaHei"/>
                <a:cs typeface="Microsoft YaHei"/>
              </a:rPr>
              <a:t>LLM 或 Partial-pass 在所有维度全面优于 Rule</a:t>
            </a:r>
          </a:p>
        </p:txBody>
      </p:sp>
      <p:sp>
        <p:nvSpPr>
          <p:cNvPr id="24" name="claim-final-rule">
            <a:extLst xmlns:a="http://schemas.openxmlformats.org/drawingml/2006/main">
              <a:ext uri="{FF2B5EF4-FFF2-40B4-BE49-F238E27FC236}">
                <a16:creationId xmlns:a16="http://schemas.microsoft.com/office/drawing/2014/main" id="{386DB3F3-DF30-4B65-B327-CFD58318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A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C053A-678F-4101-8BDF-A0299DC4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3A72F"/>
                </a:solidFill>
                <a:latin typeface="Microsoft YaHei"/>
                <a:ea typeface="Microsoft YaHei"/>
                <a:cs typeface="Microsoft YaHei"/>
              </a:rPr>
              <a:t>最终口径：可审计，比夸大更重要。</a:t>
            </a:r>
          </a:p>
        </p:txBody>
      </p:sp>
      <p:sp>
        <p:nvSpPr>
          <p:cNvPr id="26" name="footer-14-rule">
            <a:extLst xmlns:a="http://schemas.openxmlformats.org/drawingml/2006/main">
              <a:ext uri="{FF2B5EF4-FFF2-40B4-BE49-F238E27FC236}">
                <a16:creationId xmlns:a16="http://schemas.microsoft.com/office/drawing/2014/main" id="{4D43BEDC-4A91-4493-8382-A37EFBC8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A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ooter-14-source">
            <a:extLst xmlns:a="http://schemas.openxmlformats.org/drawingml/2006/main">
              <a:ext uri="{FF2B5EF4-FFF2-40B4-BE49-F238E27FC236}">
                <a16:creationId xmlns:a16="http://schemas.microsoft.com/office/drawing/2014/main" id="{D4DCE276-0E2E-4AFE-AA52-F1540A05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EB9C8"/>
                </a:solidFill>
                <a:latin typeface="Microsoft YaHei"/>
                <a:ea typeface="Microsoft YaHei"/>
                <a:cs typeface="Microsoft YaHei"/>
              </a:rPr>
              <a:t>来源：报告事实声明清单与局限章节</a:t>
            </a:r>
          </a:p>
        </p:txBody>
      </p:sp>
      <p:sp>
        <p:nvSpPr>
          <p:cNvPr id="28" name="footer-14-page">
            <a:extLst xmlns:a="http://schemas.openxmlformats.org/drawingml/2006/main">
              <a:ext uri="{FF2B5EF4-FFF2-40B4-BE49-F238E27FC236}">
                <a16:creationId xmlns:a16="http://schemas.microsoft.com/office/drawing/2014/main" id="{FA671E6C-8518-48C4-8DD2-A11365EF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EB9C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EB9C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58212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2026-07-25T13:19:05.4940000Z</dcterms:created>
  <dcterms:modified xsi:type="dcterms:W3CDTF">2026-07-25T13:19:05.4940000Z</dcterms:modified>
</coreProperties>
</file>